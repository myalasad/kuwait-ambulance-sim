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F2E"/>
                </a:solidFill>
                <a:latin typeface="Calibri"/>
              </a:rPr>
              <a:t>Average ambulance arrival time — 33 logged missions</a:t>
            </a:r>
          </a:p>
        </c:rich>
      </c:tx>
      <c:layout/>
      <c:overlay val="0"/>
    </c:title>
    <c:autoTitleDeleted val="0"/>
    <c:plotArea>
      <c:barChart>
        <c:barDir val="col"/>
        <c:grouping val="clustered"/>
        <c:ser>
          <c:idx val="0"/>
          <c:order val="0"/>
          <c:tx>
            <c:strRef>
              <c:f>Sheet1!$B$1</c:f>
              <c:strCache>
                <c:ptCount val="1"/>
                <c:pt idx="0">
                  <c:v>Arrival time (seconds)</c:v>
                </c:pt>
              </c:strCache>
            </c:strRef>
          </c:tx>
          <c:dPt>
            <c:idx val="0"/>
            <c:spPr>
              <a:solidFill>
                <a:srgbClr val="5B6770"/>
              </a:solidFill>
            </c:spPr>
          </c:dPt>
          <c:dPt>
            <c:idx val="1"/>
            <c:spPr>
              <a:solidFill>
                <a:srgbClr val="00A65A"/>
              </a:solidFill>
            </c:spPr>
          </c:dPt>
          <c:cat>
            <c:strRef>
              <c:f>Sheet1!$A$2:$A$3</c:f>
              <c:strCache>
                <c:ptCount val="2"/>
                <c:pt idx="0">
                  <c:v>Without green corridor</c:v>
                </c:pt>
                <c:pt idx="1">
                  <c:v>With green corridor</c:v>
                </c:pt>
              </c:strCache>
            </c:strRef>
          </c:cat>
          <c:val>
            <c:numRef>
              <c:f>Sheet1!$B$2:$B$3</c:f>
              <c:numCache>
                <c:formatCode>General</c:formatCode>
                <c:ptCount val="2"/>
                <c:pt idx="0">
                  <c:v>430</c:v>
                </c:pt>
                <c:pt idx="1">
                  <c:v>348</c:v>
                </c:pt>
              </c:numCache>
            </c:numRef>
          </c:val>
        </c:ser>
        <c:dLbls>
          <c:numFmt formatCode="0&quot; s&quot;" sourceLinked="0"/>
          <c:txPr>
            <a:bodyPr/>
            <a:lstStyle/>
            <a:p>
              <a:pPr>
                <a:defRPr sz="1400" b="1">
                  <a:solidFill>
                    <a:srgbClr val="0F1F2E"/>
                  </a:solidFill>
                  <a:latin typeface="Calibri"/>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E3E8EC"/>
            </a:solidFill>
          </a:ln>
        </c:spPr>
        <c:txPr>
          <a:bodyPr/>
          <a:lstStyle/>
          <a:p>
            <a:pPr>
              <a:defRPr sz="1300">
                <a:solidFill>
                  <a:srgbClr val="0F1F2E"/>
                </a:solidFill>
                <a:latin typeface="Calibri"/>
              </a:defRPr>
            </a:pPr>
          </a:p>
        </c:txPr>
        <c:crossAx val="-2113994440"/>
        <c:crosses val="autoZero"/>
        <c:auto val="1"/>
        <c:lblAlgn val="ctr"/>
        <c:lblOffset val="100"/>
        <c:noMultiLvlLbl val="0"/>
      </c:catAx>
      <c:valAx>
        <c:axId val="-2113994440"/>
        <c:scaling>
          <c:max val="500.0"/>
          <c:min val="0.0"/>
        </c:scaling>
        <c:delete val="0"/>
        <c:axPos val="l"/>
        <c:majorGridlines>
          <c:spPr>
            <a:ln>
              <a:solidFill>
                <a:srgbClr val="E3E8EC"/>
              </a:solidFill>
            </a:ln>
          </c:spPr>
        </c:majorGridlines>
        <c:majorTickMark val="out"/>
        <c:minorTickMark val="none"/>
        <c:tickLblPos val="nextTo"/>
        <c:spPr>
          <a:ln>
            <a:noFill/>
          </a:ln>
        </c:spPr>
        <c:txPr>
          <a:bodyPr/>
          <a:lstStyle/>
          <a:p>
            <a:pPr>
              <a:defRPr sz="1100">
                <a:solidFill>
                  <a:srgbClr val="5B6770"/>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(slides 1–2).</a:t>
            </a:r>
          </a:p>
          <a:p/>
          <a:p>
            <a:r>
              <a:t>Opening line: 'Every minute an ambulance spends waiting at a red light is a minute taken from a patient. We built a system — and tested it on a faithful model of Kuwait City — where the lights clear the way before the ambulance arrives.'</a:t>
            </a:r>
          </a:p>
          <a:p/>
          <a:p>
            <a:r>
              <a:t>Keep this slide up for 20 seconds. Do not read the subtitle; say it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a:t>
            </a:r>
          </a:p>
          <a:p/>
          <a:p>
            <a:r>
              <a:t>Three points, one per card: time lost at each red; drivers cannot give way when the queue is stopped; running a red is dangerous.</a:t>
            </a:r>
          </a:p>
          <a:p/>
          <a:p>
            <a:r>
              <a:t>The '8 signals' figure comes from the system's own dispatch log (e.g. Amiri Hospital to downtown: 4.1 km, 8 signals).</a:t>
            </a:r>
          </a:p>
          <a:p/>
          <a:p>
            <a:r>
              <a:t>Close with the goal sentence in green — it is the whole project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(slide 3).</a:t>
            </a:r>
          </a:p>
          <a:p/>
          <a:p>
            <a:r>
              <a:t>Key message: this is tested on Kuwait's actual street layout, with traffic that rises and falls like a real Kuwaiti weekday.</a:t>
            </a:r>
          </a:p>
          <a:p/>
          <a:p>
            <a:r>
              <a:t>If asked 'what is SUMO?': an open-source traffic microsimulator from the German Aerospace Center (DLR), the standard research and planning tool for signal studies.</a:t>
            </a:r>
          </a:p>
          <a:p/>
          <a:p>
            <a:r>
              <a:t>If asked about signal timings: the road layout and signal locations are real; the individual signal timing plans are synthetic until the Ministry provides the real ones (see slide 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(slides 4–5).</a:t>
            </a:r>
          </a:p>
          <a:p/>
          <a:p>
            <a:r>
              <a:t>Walk left to right. The traffic light on each card shows what the ambulance's own signal looks like at that moment.</a:t>
            </a:r>
          </a:p>
          <a:p/>
          <a:p>
            <a:r>
              <a:t>Important detail in step 3: the switch is based on ARRIVAL TIME (about 25 s ahead), not a fixed distance. If the ambulance is crawling in a jam, junctions far ahead are not held for minutes — that protects cross-street traffic. The window is never earlier than 800 m out and never later than 160 m out.</a:t>
            </a:r>
          </a:p>
          <a:p/>
          <a:p>
            <a:r>
              <a:t>Step 2: detection confirms, the route predicts — the junction knows before its camera sees.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a:t>
            </a:r>
          </a:p>
          <a:p/>
          <a:p>
            <a:r>
              <a:t>This slide answers the question every traffic engineer will ask: 'Is this safe for the other drivers?'</a:t>
            </a:r>
          </a:p>
          <a:p/>
          <a:p>
            <a:r>
              <a:t>The controller holds a REAL phase of the junction's own programme (the one that serves the ambulance's approach), not an invented 'everything red' state. That is how real preemption controllers work and it keeps compatible movements alive so the junction cannot deadlock.</a:t>
            </a:r>
          </a:p>
          <a:p/>
          <a:p>
            <a:r>
              <a:t>Numbers: amber 3 s, all-red 2 s, maximum hold 90 s, cooldown for cross traffic 20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4 (slide 6).</a:t>
            </a:r>
          </a:p>
          <a:p/>
          <a:p>
            <a:r>
              <a:t>Do not go deep on any one item; give one sentence each. The point is that this is a complete operating picture, not only a signal controller.</a:t>
            </a:r>
          </a:p>
          <a:p/>
          <a:p>
            <a:r>
              <a:t>If asked 'learns the traffic': it is a Markov model (discrete and continuous time) per road, verified against closed-form solutions, and it persists between sessions.</a:t>
            </a:r>
          </a:p>
          <a:p/>
          <a:p>
            <a:r>
              <a:t>If asked about the supervisor referral: the system decides routine cases itself; only genuinely conflicting priorities go to a person, and every ruling is logged.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5 (slides 7–8).</a:t>
            </a:r>
          </a:p>
          <a:p/>
          <a:p>
            <a:r>
              <a:t>Read the chart plainly: 430 seconds without, 348 seconds with — about 19% faster, roughly 80 seconds per run, averaged over the 33 missions in the operations log.</a:t>
            </a:r>
          </a:p>
          <a:p/>
          <a:p>
            <a:r>
              <a:t>Be honest about the method if asked: the 'with' time is measured in the simulation; the 'without' time is the system's own counterfactual estimate of signal waits removed (r²/2C timer formula per junction, same traffic). A seeded side-by-side comparison harness also exists (run_headless.py --compare).</a:t>
            </a:r>
          </a:p>
          <a:p/>
          <a:p>
            <a:r>
              <a:t>The +9.1% / −42.5% figures are from the demand-responsive signal feature (v2.4), measured at identical peak demand.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5.</a:t>
            </a:r>
          </a:p>
          <a:p/>
          <a:p>
            <a:r>
              <a:t>End on the three asks — these are concrete and cheap for the Ministry to provide.</a:t>
            </a:r>
          </a:p>
          <a:p/>
          <a:p>
            <a:r>
              <a:t>Closing line: 'We are not asking for a new network of cameras or controllers. We are asking for the data that lets the lights we already have give way to the people who need it most.'</a:t>
            </a:r>
          </a:p>
          <a:p/>
          <a:p>
            <a:r>
              <a:t>Then open the floor.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F2E"/>
        </a:solidFill>
        <a:effectLst/>
      </p:bgPr>
    </p:bg>
    <p:spTree>
      <p:nvGrpSpPr>
        <p:cNvPr id="1" name=""/>
        <p:cNvGrpSpPr/>
        <p:nvPr/>
      </p:nvGrpSpPr>
      <p:grpSpPr/>
      <p:sp>
        <p:nvSpPr>
          <p:cNvPr id="2" name="Rounded Rectangle 1"/>
          <p:cNvSpPr/>
          <p:nvPr/>
        </p:nvSpPr>
        <p:spPr>
          <a:xfrm>
            <a:off x="822960" y="2011680"/>
            <a:ext cx="903427" cy="2377440"/>
          </a:xfrm>
          <a:prstGeom prst="roundRect">
            <a:avLst>
              <a:gd name="adj" fmla="val 8097"/>
            </a:avLst>
          </a:prstGeom>
          <a:solidFill>
            <a:srgbClr val="1B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4611" y="2183331"/>
            <a:ext cx="560124" cy="560124"/>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4611" y="2897942"/>
            <a:ext cx="560124" cy="560124"/>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94611" y="3612552"/>
            <a:ext cx="560124" cy="560124"/>
          </a:xfrm>
          <a:prstGeom prst="ellipse">
            <a:avLst/>
          </a:prstGeom>
          <a:solidFill>
            <a:srgbClr val="00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1828800"/>
            <a:ext cx="9144000" cy="1005840"/>
          </a:xfrm>
          <a:prstGeom prst="rect">
            <a:avLst/>
          </a:prstGeom>
          <a:noFill/>
        </p:spPr>
        <p:txBody>
          <a:bodyPr wrap="square" lIns="0" rIns="0" tIns="0" bIns="0" anchor="t">
            <a:spAutoFit/>
          </a:bodyPr>
          <a:lstStyle/>
          <a:p>
            <a:pPr algn="l"/>
            <a:r>
              <a:rPr sz="4400" b="1" i="0">
                <a:solidFill>
                  <a:srgbClr val="FFFFFF"/>
                </a:solidFill>
                <a:latin typeface="Calibri"/>
              </a:rPr>
              <a:t>Green Corridor for Ambulances</a:t>
            </a:r>
          </a:p>
        </p:txBody>
      </p:sp>
      <p:sp>
        <p:nvSpPr>
          <p:cNvPr id="7" name="TextBox 6"/>
          <p:cNvSpPr txBox="1"/>
          <p:nvPr/>
        </p:nvSpPr>
        <p:spPr>
          <a:xfrm>
            <a:off x="2103120" y="2926080"/>
            <a:ext cx="8778240" cy="1097280"/>
          </a:xfrm>
          <a:prstGeom prst="rect">
            <a:avLst/>
          </a:prstGeom>
          <a:noFill/>
        </p:spPr>
        <p:txBody>
          <a:bodyPr wrap="square" lIns="0" rIns="0" tIns="0" bIns="0" anchor="t">
            <a:spAutoFit/>
          </a:bodyPr>
          <a:lstStyle/>
          <a:p>
            <a:pPr algn="l"/>
            <a:r>
              <a:rPr sz="1800" b="0" i="0">
                <a:solidFill>
                  <a:srgbClr val="CFE3DA"/>
                </a:solidFill>
                <a:latin typeface="Calibri"/>
              </a:rPr>
              <a:t>A working simulation of Kuwait City's traffic signals clearing the road ahead of an emergency vehicle — automatically, safely, and back to normal the moment it has passed.</a:t>
            </a:r>
          </a:p>
        </p:txBody>
      </p:sp>
      <p:sp>
        <p:nvSpPr>
          <p:cNvPr id="8" name="TextBox 7"/>
          <p:cNvSpPr txBox="1"/>
          <p:nvPr/>
        </p:nvSpPr>
        <p:spPr>
          <a:xfrm>
            <a:off x="2103120" y="5394960"/>
            <a:ext cx="9144000" cy="365760"/>
          </a:xfrm>
          <a:prstGeom prst="rect">
            <a:avLst/>
          </a:prstGeom>
          <a:noFill/>
        </p:spPr>
        <p:txBody>
          <a:bodyPr wrap="square" lIns="0" rIns="0" tIns="0" bIns="0" anchor="t">
            <a:spAutoFit/>
          </a:bodyPr>
          <a:lstStyle/>
          <a:p>
            <a:pPr algn="l"/>
            <a:r>
              <a:rPr sz="1200" b="0" i="0">
                <a:solidFill>
                  <a:srgbClr val="8FA3B3"/>
                </a:solidFill>
                <a:latin typeface="Calibri"/>
              </a:rPr>
              <a:t>Built on real OpenStreetMap roads of Kuwait City  ·  Eclipse SUMO traffic microsimulation  ·  Presented to the Ministry,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11535" cy="731520"/>
          </a:xfrm>
          <a:prstGeom prst="rect">
            <a:avLst/>
          </a:prstGeom>
          <a:noFill/>
        </p:spPr>
        <p:txBody>
          <a:bodyPr wrap="square" lIns="0" rIns="0" tIns="0" bIns="0" anchor="t">
            <a:spAutoFit/>
          </a:bodyPr>
          <a:lstStyle/>
          <a:p>
            <a:pPr algn="l"/>
            <a:r>
              <a:rPr sz="3400" b="1" i="0">
                <a:solidFill>
                  <a:srgbClr val="0F1F2E"/>
                </a:solidFill>
                <a:latin typeface="Calibri"/>
              </a:rPr>
              <a:t>The problem: red lights cost ambulances minutes</a:t>
            </a:r>
          </a:p>
        </p:txBody>
      </p:sp>
      <p:sp>
        <p:nvSpPr>
          <p:cNvPr id="3" name="TextBox 2"/>
          <p:cNvSpPr txBox="1"/>
          <p:nvPr/>
        </p:nvSpPr>
        <p:spPr>
          <a:xfrm>
            <a:off x="640080" y="1097280"/>
            <a:ext cx="10911535" cy="457200"/>
          </a:xfrm>
          <a:prstGeom prst="rect">
            <a:avLst/>
          </a:prstGeom>
          <a:noFill/>
        </p:spPr>
        <p:txBody>
          <a:bodyPr wrap="square" lIns="0" rIns="0" tIns="0" bIns="0" anchor="t">
            <a:spAutoFit/>
          </a:bodyPr>
          <a:lstStyle/>
          <a:p>
            <a:pPr algn="l"/>
            <a:r>
              <a:rPr sz="1600" b="0" i="0">
                <a:solidFill>
                  <a:srgbClr val="5B6770"/>
                </a:solidFill>
                <a:latin typeface="Calibri"/>
              </a:rPr>
              <a:t>Today an ambulance with its lights on still meets the same signals as everyone else.</a:t>
            </a:r>
          </a:p>
        </p:txBody>
      </p:sp>
      <p:sp>
        <p:nvSpPr>
          <p:cNvPr id="4" name="Rounded Rectangle 3"/>
          <p:cNvSpPr/>
          <p:nvPr/>
        </p:nvSpPr>
        <p:spPr>
          <a:xfrm>
            <a:off x="640080" y="1920240"/>
            <a:ext cx="3429000" cy="3108960"/>
          </a:xfrm>
          <a:prstGeom prst="roundRect">
            <a:avLst>
              <a:gd name="adj" fmla="val 3529"/>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19" y="2240280"/>
            <a:ext cx="731520" cy="731520"/>
          </a:xfrm>
          <a:prstGeom prst="ellipse">
            <a:avLst/>
          </a:prstGeom>
          <a:solidFill>
            <a:srgbClr val="FD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2240280"/>
            <a:ext cx="731520" cy="731520"/>
          </a:xfrm>
          <a:prstGeom prst="rect">
            <a:avLst/>
          </a:prstGeom>
          <a:noFill/>
        </p:spPr>
        <p:txBody>
          <a:bodyPr wrap="square" lIns="0" rIns="0" tIns="0" bIns="0" anchor="ctr">
            <a:spAutoFit/>
          </a:bodyPr>
          <a:lstStyle/>
          <a:p>
            <a:pPr algn="ctr"/>
            <a:r>
              <a:rPr sz="2700" b="1" i="0">
                <a:solidFill>
                  <a:srgbClr val="D7263D"/>
                </a:solidFill>
                <a:latin typeface="Calibri"/>
              </a:rPr>
              <a:t>1</a:t>
            </a:r>
          </a:p>
        </p:txBody>
      </p:sp>
      <p:sp>
        <p:nvSpPr>
          <p:cNvPr id="7" name="TextBox 6"/>
          <p:cNvSpPr txBox="1"/>
          <p:nvPr/>
        </p:nvSpPr>
        <p:spPr>
          <a:xfrm>
            <a:off x="960119" y="3200400"/>
            <a:ext cx="2834640" cy="457200"/>
          </a:xfrm>
          <a:prstGeom prst="rect">
            <a:avLst/>
          </a:prstGeom>
          <a:noFill/>
        </p:spPr>
        <p:txBody>
          <a:bodyPr wrap="square" lIns="0" rIns="0" tIns="0" bIns="0" anchor="t">
            <a:spAutoFit/>
          </a:bodyPr>
          <a:lstStyle/>
          <a:p>
            <a:pPr algn="l"/>
            <a:r>
              <a:rPr sz="2000" b="1" i="0">
                <a:solidFill>
                  <a:srgbClr val="0F1F2E"/>
                </a:solidFill>
                <a:latin typeface="Calibri"/>
              </a:rPr>
              <a:t>Waiting at the red</a:t>
            </a:r>
          </a:p>
        </p:txBody>
      </p:sp>
      <p:sp>
        <p:nvSpPr>
          <p:cNvPr id="8" name="TextBox 7"/>
          <p:cNvSpPr txBox="1"/>
          <p:nvPr/>
        </p:nvSpPr>
        <p:spPr>
          <a:xfrm>
            <a:off x="960119" y="3749039"/>
            <a:ext cx="2834640" cy="1188720"/>
          </a:xfrm>
          <a:prstGeom prst="rect">
            <a:avLst/>
          </a:prstGeom>
          <a:noFill/>
        </p:spPr>
        <p:txBody>
          <a:bodyPr wrap="square" lIns="0" rIns="0" tIns="0" bIns="0" anchor="t">
            <a:spAutoFit/>
          </a:bodyPr>
          <a:lstStyle/>
          <a:p>
            <a:pPr algn="l"/>
            <a:r>
              <a:rPr sz="1400" b="0" i="0">
                <a:solidFill>
                  <a:srgbClr val="5B6770"/>
                </a:solidFill>
                <a:latin typeface="Calibri"/>
              </a:rPr>
              <a:t>On a typical downtown run an ambulance meets 8 signals. Each red adds tens of seconds while the patient waits.</a:t>
            </a:r>
          </a:p>
        </p:txBody>
      </p:sp>
      <p:sp>
        <p:nvSpPr>
          <p:cNvPr id="9" name="Rounded Rectangle 8"/>
          <p:cNvSpPr/>
          <p:nvPr/>
        </p:nvSpPr>
        <p:spPr>
          <a:xfrm>
            <a:off x="4343400" y="1920240"/>
            <a:ext cx="3429000" cy="3108960"/>
          </a:xfrm>
          <a:prstGeom prst="roundRect">
            <a:avLst>
              <a:gd name="adj" fmla="val 3529"/>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63440" y="2240280"/>
            <a:ext cx="731520" cy="731520"/>
          </a:xfrm>
          <a:prstGeom prst="ellipse">
            <a:avLst/>
          </a:prstGeom>
          <a:solidFill>
            <a:srgbClr val="FD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240280"/>
            <a:ext cx="731520" cy="731520"/>
          </a:xfrm>
          <a:prstGeom prst="rect">
            <a:avLst/>
          </a:prstGeom>
          <a:noFill/>
        </p:spPr>
        <p:txBody>
          <a:bodyPr wrap="square" lIns="0" rIns="0" tIns="0" bIns="0" anchor="ctr">
            <a:spAutoFit/>
          </a:bodyPr>
          <a:lstStyle/>
          <a:p>
            <a:pPr algn="ctr"/>
            <a:r>
              <a:rPr sz="2700" b="1" i="0">
                <a:solidFill>
                  <a:srgbClr val="D7263D"/>
                </a:solidFill>
                <a:latin typeface="Calibri"/>
              </a:rPr>
              <a:t>2</a:t>
            </a:r>
          </a:p>
        </p:txBody>
      </p:sp>
      <p:sp>
        <p:nvSpPr>
          <p:cNvPr id="12" name="TextBox 11"/>
          <p:cNvSpPr txBox="1"/>
          <p:nvPr/>
        </p:nvSpPr>
        <p:spPr>
          <a:xfrm>
            <a:off x="4663440" y="3200400"/>
            <a:ext cx="2834640" cy="457200"/>
          </a:xfrm>
          <a:prstGeom prst="rect">
            <a:avLst/>
          </a:prstGeom>
          <a:noFill/>
        </p:spPr>
        <p:txBody>
          <a:bodyPr wrap="square" lIns="0" rIns="0" tIns="0" bIns="0" anchor="t">
            <a:spAutoFit/>
          </a:bodyPr>
          <a:lstStyle/>
          <a:p>
            <a:pPr algn="l"/>
            <a:r>
              <a:rPr sz="2000" b="1" i="0">
                <a:solidFill>
                  <a:srgbClr val="0F1F2E"/>
                </a:solidFill>
                <a:latin typeface="Calibri"/>
              </a:rPr>
              <a:t>Nowhere to go</a:t>
            </a:r>
          </a:p>
        </p:txBody>
      </p:sp>
      <p:sp>
        <p:nvSpPr>
          <p:cNvPr id="13" name="TextBox 12"/>
          <p:cNvSpPr txBox="1"/>
          <p:nvPr/>
        </p:nvSpPr>
        <p:spPr>
          <a:xfrm>
            <a:off x="4663440" y="3749039"/>
            <a:ext cx="2834640" cy="1188720"/>
          </a:xfrm>
          <a:prstGeom prst="rect">
            <a:avLst/>
          </a:prstGeom>
          <a:noFill/>
        </p:spPr>
        <p:txBody>
          <a:bodyPr wrap="square" lIns="0" rIns="0" tIns="0" bIns="0" anchor="t">
            <a:spAutoFit/>
          </a:bodyPr>
          <a:lstStyle/>
          <a:p>
            <a:pPr algn="l"/>
            <a:r>
              <a:rPr sz="1400" b="0" i="0">
                <a:solidFill>
                  <a:srgbClr val="5B6770"/>
                </a:solidFill>
                <a:latin typeface="Calibri"/>
              </a:rPr>
              <a:t>Even when drivers want to give way, a full queue at a red light has no space to move aside.</a:t>
            </a:r>
          </a:p>
        </p:txBody>
      </p:sp>
      <p:sp>
        <p:nvSpPr>
          <p:cNvPr id="14" name="Rounded Rectangle 13"/>
          <p:cNvSpPr/>
          <p:nvPr/>
        </p:nvSpPr>
        <p:spPr>
          <a:xfrm>
            <a:off x="8046719" y="1920240"/>
            <a:ext cx="3429000" cy="3108960"/>
          </a:xfrm>
          <a:prstGeom prst="roundRect">
            <a:avLst>
              <a:gd name="adj" fmla="val 3529"/>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66759" y="2240280"/>
            <a:ext cx="731520" cy="731520"/>
          </a:xfrm>
          <a:prstGeom prst="ellipse">
            <a:avLst/>
          </a:prstGeom>
          <a:solidFill>
            <a:srgbClr val="FD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59" y="2240280"/>
            <a:ext cx="731520" cy="731520"/>
          </a:xfrm>
          <a:prstGeom prst="rect">
            <a:avLst/>
          </a:prstGeom>
          <a:noFill/>
        </p:spPr>
        <p:txBody>
          <a:bodyPr wrap="square" lIns="0" rIns="0" tIns="0" bIns="0" anchor="ctr">
            <a:spAutoFit/>
          </a:bodyPr>
          <a:lstStyle/>
          <a:p>
            <a:pPr algn="ctr"/>
            <a:r>
              <a:rPr sz="2700" b="1" i="0">
                <a:solidFill>
                  <a:srgbClr val="D7263D"/>
                </a:solidFill>
                <a:latin typeface="Calibri"/>
              </a:rPr>
              <a:t>3</a:t>
            </a:r>
          </a:p>
        </p:txBody>
      </p:sp>
      <p:sp>
        <p:nvSpPr>
          <p:cNvPr id="17" name="TextBox 16"/>
          <p:cNvSpPr txBox="1"/>
          <p:nvPr/>
        </p:nvSpPr>
        <p:spPr>
          <a:xfrm>
            <a:off x="8366759" y="3200400"/>
            <a:ext cx="2834640" cy="457200"/>
          </a:xfrm>
          <a:prstGeom prst="rect">
            <a:avLst/>
          </a:prstGeom>
          <a:noFill/>
        </p:spPr>
        <p:txBody>
          <a:bodyPr wrap="square" lIns="0" rIns="0" tIns="0" bIns="0" anchor="t">
            <a:spAutoFit/>
          </a:bodyPr>
          <a:lstStyle/>
          <a:p>
            <a:pPr algn="l"/>
            <a:r>
              <a:rPr sz="2000" b="1" i="0">
                <a:solidFill>
                  <a:srgbClr val="0F1F2E"/>
                </a:solidFill>
                <a:latin typeface="Calibri"/>
              </a:rPr>
              <a:t>Crossing on red is unsafe</a:t>
            </a:r>
          </a:p>
        </p:txBody>
      </p:sp>
      <p:sp>
        <p:nvSpPr>
          <p:cNvPr id="18" name="TextBox 17"/>
          <p:cNvSpPr txBox="1"/>
          <p:nvPr/>
        </p:nvSpPr>
        <p:spPr>
          <a:xfrm>
            <a:off x="8366759" y="3749039"/>
            <a:ext cx="2834640" cy="1188720"/>
          </a:xfrm>
          <a:prstGeom prst="rect">
            <a:avLst/>
          </a:prstGeom>
          <a:noFill/>
        </p:spPr>
        <p:txBody>
          <a:bodyPr wrap="square" lIns="0" rIns="0" tIns="0" bIns="0" anchor="t">
            <a:spAutoFit/>
          </a:bodyPr>
          <a:lstStyle/>
          <a:p>
            <a:pPr algn="l"/>
            <a:r>
              <a:rPr sz="1400" b="0" i="0">
                <a:solidFill>
                  <a:srgbClr val="5B6770"/>
                </a:solidFill>
                <a:latin typeface="Calibri"/>
              </a:rPr>
              <a:t>Driving through a red light against live traffic is the most dangerous moment of the whole journey.</a:t>
            </a:r>
          </a:p>
        </p:txBody>
      </p:sp>
      <p:sp>
        <p:nvSpPr>
          <p:cNvPr id="19" name="TextBox 18"/>
          <p:cNvSpPr txBox="1"/>
          <p:nvPr/>
        </p:nvSpPr>
        <p:spPr>
          <a:xfrm>
            <a:off x="640080" y="5349240"/>
            <a:ext cx="10911535" cy="548640"/>
          </a:xfrm>
          <a:prstGeom prst="rect">
            <a:avLst/>
          </a:prstGeom>
          <a:noFill/>
        </p:spPr>
        <p:txBody>
          <a:bodyPr wrap="square" lIns="0" rIns="0" tIns="0" bIns="0" anchor="t">
            <a:spAutoFit/>
          </a:bodyPr>
          <a:lstStyle/>
          <a:p>
            <a:pPr algn="l"/>
            <a:r>
              <a:rPr sz="1600" b="1" i="0">
                <a:solidFill>
                  <a:srgbClr val="00A65A"/>
                </a:solidFill>
                <a:latin typeface="Calibri"/>
              </a:rPr>
              <a:t>Our goal: the signal ahead is already green when the ambulance reaches it — and the traffic in front has already moved.</a:t>
            </a:r>
          </a:p>
        </p:txBody>
      </p:sp>
      <p:sp>
        <p:nvSpPr>
          <p:cNvPr id="20" name="TextBox 19"/>
          <p:cNvSpPr txBox="1"/>
          <p:nvPr/>
        </p:nvSpPr>
        <p:spPr>
          <a:xfrm>
            <a:off x="640080" y="6400800"/>
            <a:ext cx="10911535" cy="274320"/>
          </a:xfrm>
          <a:prstGeom prst="rect">
            <a:avLst/>
          </a:prstGeom>
          <a:noFill/>
        </p:spPr>
        <p:txBody>
          <a:bodyPr wrap="square" lIns="0" rIns="0" tIns="0" bIns="0" anchor="t">
            <a:spAutoFit/>
          </a:bodyPr>
          <a:lstStyle/>
          <a:p>
            <a:pPr algn="l"/>
            <a:r>
              <a:rPr sz="1000" b="0" i="0">
                <a:solidFill>
                  <a:srgbClr val="5B6770"/>
                </a:solidFill>
                <a:latin typeface="Calibri"/>
              </a:rPr>
              <a:t>Kuwait Ambulance Green Corridor  ·  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11535" cy="731520"/>
          </a:xfrm>
          <a:prstGeom prst="rect">
            <a:avLst/>
          </a:prstGeom>
          <a:noFill/>
        </p:spPr>
        <p:txBody>
          <a:bodyPr wrap="square" lIns="0" rIns="0" tIns="0" bIns="0" anchor="t">
            <a:spAutoFit/>
          </a:bodyPr>
          <a:lstStyle/>
          <a:p>
            <a:pPr algn="l"/>
            <a:r>
              <a:rPr sz="3400" b="1" i="0">
                <a:solidFill>
                  <a:srgbClr val="0F1F2E"/>
                </a:solidFill>
                <a:latin typeface="Calibri"/>
              </a:rPr>
              <a:t>What we built: a living model of Kuwait City's roads</a:t>
            </a:r>
          </a:p>
        </p:txBody>
      </p:sp>
      <p:sp>
        <p:nvSpPr>
          <p:cNvPr id="3" name="TextBox 2"/>
          <p:cNvSpPr txBox="1"/>
          <p:nvPr/>
        </p:nvSpPr>
        <p:spPr>
          <a:xfrm>
            <a:off x="640080" y="1097280"/>
            <a:ext cx="10911535" cy="457200"/>
          </a:xfrm>
          <a:prstGeom prst="rect">
            <a:avLst/>
          </a:prstGeom>
          <a:noFill/>
        </p:spPr>
        <p:txBody>
          <a:bodyPr wrap="square" lIns="0" rIns="0" tIns="0" bIns="0" anchor="t">
            <a:spAutoFit/>
          </a:bodyPr>
          <a:lstStyle/>
          <a:p>
            <a:pPr algn="l"/>
            <a:r>
              <a:rPr sz="1600" b="0" i="0">
                <a:solidFill>
                  <a:srgbClr val="5B6770"/>
                </a:solidFill>
                <a:latin typeface="Calibri"/>
              </a:rPr>
              <a:t>Not a drawing — a simulation where every car, signal and ambulance behaves second by second.</a:t>
            </a:r>
          </a:p>
        </p:txBody>
      </p:sp>
      <p:sp>
        <p:nvSpPr>
          <p:cNvPr id="4" name="Oval 3"/>
          <p:cNvSpPr/>
          <p:nvPr/>
        </p:nvSpPr>
        <p:spPr>
          <a:xfrm>
            <a:off x="640080" y="1828800"/>
            <a:ext cx="685800" cy="68580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685800" cy="685800"/>
          </a:xfrm>
          <a:prstGeom prst="rect">
            <a:avLst/>
          </a:prstGeom>
          <a:noFill/>
        </p:spPr>
        <p:txBody>
          <a:bodyPr wrap="square" lIns="0" rIns="0" tIns="0" bIns="0" anchor="ctr">
            <a:spAutoFit/>
          </a:bodyPr>
          <a:lstStyle/>
          <a:p>
            <a:pPr algn="ctr"/>
            <a:r>
              <a:rPr sz="2500" b="1" i="0">
                <a:solidFill>
                  <a:srgbClr val="00A65A"/>
                </a:solidFill>
                <a:latin typeface="Calibri"/>
              </a:rPr>
              <a:t>1</a:t>
            </a:r>
          </a:p>
        </p:txBody>
      </p:sp>
      <p:sp>
        <p:nvSpPr>
          <p:cNvPr id="6" name="TextBox 5"/>
          <p:cNvSpPr txBox="1"/>
          <p:nvPr/>
        </p:nvSpPr>
        <p:spPr>
          <a:xfrm>
            <a:off x="1554480" y="1810512"/>
            <a:ext cx="4572000" cy="365760"/>
          </a:xfrm>
          <a:prstGeom prst="rect">
            <a:avLst/>
          </a:prstGeom>
          <a:noFill/>
        </p:spPr>
        <p:txBody>
          <a:bodyPr wrap="square" lIns="0" rIns="0" tIns="0" bIns="0" anchor="t">
            <a:spAutoFit/>
          </a:bodyPr>
          <a:lstStyle/>
          <a:p>
            <a:pPr algn="l"/>
            <a:r>
              <a:rPr sz="1900" b="1" i="0">
                <a:solidFill>
                  <a:srgbClr val="0F1F2E"/>
                </a:solidFill>
                <a:latin typeface="Calibri"/>
              </a:rPr>
              <a:t>Real roads</a:t>
            </a:r>
          </a:p>
        </p:txBody>
      </p:sp>
      <p:sp>
        <p:nvSpPr>
          <p:cNvPr id="7" name="TextBox 6"/>
          <p:cNvSpPr txBox="1"/>
          <p:nvPr/>
        </p:nvSpPr>
        <p:spPr>
          <a:xfrm>
            <a:off x="1554480" y="2194560"/>
            <a:ext cx="5760720" cy="868680"/>
          </a:xfrm>
          <a:prstGeom prst="rect">
            <a:avLst/>
          </a:prstGeom>
          <a:noFill/>
        </p:spPr>
        <p:txBody>
          <a:bodyPr wrap="square" lIns="0" rIns="0" tIns="0" bIns="0" anchor="t">
            <a:spAutoFit/>
          </a:bodyPr>
          <a:lstStyle/>
          <a:p>
            <a:pPr algn="l"/>
            <a:r>
              <a:rPr sz="1350" b="0" i="0">
                <a:solidFill>
                  <a:srgbClr val="5B6770"/>
                </a:solidFill>
                <a:latin typeface="Calibri"/>
              </a:rPr>
              <a:t>Downtown Kuwait City is taken directly from OpenStreetMap: one-way streets, turn rules and 78 signalized junctions. A second model covers all six governorates (223 junctions).</a:t>
            </a:r>
          </a:p>
        </p:txBody>
      </p:sp>
      <p:sp>
        <p:nvSpPr>
          <p:cNvPr id="8" name="Oval 7"/>
          <p:cNvSpPr/>
          <p:nvPr/>
        </p:nvSpPr>
        <p:spPr>
          <a:xfrm>
            <a:off x="640080" y="3154680"/>
            <a:ext cx="685800" cy="68580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154680"/>
            <a:ext cx="685800" cy="685800"/>
          </a:xfrm>
          <a:prstGeom prst="rect">
            <a:avLst/>
          </a:prstGeom>
          <a:noFill/>
        </p:spPr>
        <p:txBody>
          <a:bodyPr wrap="square" lIns="0" rIns="0" tIns="0" bIns="0" anchor="ctr">
            <a:spAutoFit/>
          </a:bodyPr>
          <a:lstStyle/>
          <a:p>
            <a:pPr algn="ctr"/>
            <a:r>
              <a:rPr sz="2500" b="1" i="0">
                <a:solidFill>
                  <a:srgbClr val="00A65A"/>
                </a:solidFill>
                <a:latin typeface="Calibri"/>
              </a:rPr>
              <a:t>2</a:t>
            </a:r>
          </a:p>
        </p:txBody>
      </p:sp>
      <p:sp>
        <p:nvSpPr>
          <p:cNvPr id="10" name="TextBox 9"/>
          <p:cNvSpPr txBox="1"/>
          <p:nvPr/>
        </p:nvSpPr>
        <p:spPr>
          <a:xfrm>
            <a:off x="1554480" y="3136392"/>
            <a:ext cx="4572000" cy="365760"/>
          </a:xfrm>
          <a:prstGeom prst="rect">
            <a:avLst/>
          </a:prstGeom>
          <a:noFill/>
        </p:spPr>
        <p:txBody>
          <a:bodyPr wrap="square" lIns="0" rIns="0" tIns="0" bIns="0" anchor="t">
            <a:spAutoFit/>
          </a:bodyPr>
          <a:lstStyle/>
          <a:p>
            <a:pPr algn="l"/>
            <a:r>
              <a:rPr sz="1900" b="1" i="0">
                <a:solidFill>
                  <a:srgbClr val="0F1F2E"/>
                </a:solidFill>
                <a:latin typeface="Calibri"/>
              </a:rPr>
              <a:t>Real traffic behaviour</a:t>
            </a:r>
          </a:p>
        </p:txBody>
      </p:sp>
      <p:sp>
        <p:nvSpPr>
          <p:cNvPr id="11" name="TextBox 10"/>
          <p:cNvSpPr txBox="1"/>
          <p:nvPr/>
        </p:nvSpPr>
        <p:spPr>
          <a:xfrm>
            <a:off x="1554480" y="3520440"/>
            <a:ext cx="5760720" cy="868680"/>
          </a:xfrm>
          <a:prstGeom prst="rect">
            <a:avLst/>
          </a:prstGeom>
          <a:noFill/>
        </p:spPr>
        <p:txBody>
          <a:bodyPr wrap="square" lIns="0" rIns="0" tIns="0" bIns="0" anchor="t">
            <a:spAutoFit/>
          </a:bodyPr>
          <a:lstStyle/>
          <a:p>
            <a:pPr algn="l"/>
            <a:r>
              <a:rPr sz="1350" b="0" i="0">
                <a:solidFill>
                  <a:srgbClr val="5B6770"/>
                </a:solidFill>
                <a:latin typeface="Calibri"/>
              </a:rPr>
              <a:t>Built on Eclipse SUMO, the traffic simulator used by transport authorities worldwide. Demand follows the Kuwaiti weekday pattern, hour by hour — 07:00 peak, near-empty streets at 03:00.</a:t>
            </a:r>
          </a:p>
        </p:txBody>
      </p:sp>
      <p:sp>
        <p:nvSpPr>
          <p:cNvPr id="12" name="Oval 11"/>
          <p:cNvSpPr/>
          <p:nvPr/>
        </p:nvSpPr>
        <p:spPr>
          <a:xfrm>
            <a:off x="640080" y="4480560"/>
            <a:ext cx="685800" cy="68580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480560"/>
            <a:ext cx="685800" cy="685800"/>
          </a:xfrm>
          <a:prstGeom prst="rect">
            <a:avLst/>
          </a:prstGeom>
          <a:noFill/>
        </p:spPr>
        <p:txBody>
          <a:bodyPr wrap="square" lIns="0" rIns="0" tIns="0" bIns="0" anchor="ctr">
            <a:spAutoFit/>
          </a:bodyPr>
          <a:lstStyle/>
          <a:p>
            <a:pPr algn="ctr"/>
            <a:r>
              <a:rPr sz="2500" b="1" i="0">
                <a:solidFill>
                  <a:srgbClr val="00A65A"/>
                </a:solidFill>
                <a:latin typeface="Calibri"/>
              </a:rPr>
              <a:t>3</a:t>
            </a:r>
          </a:p>
        </p:txBody>
      </p:sp>
      <p:sp>
        <p:nvSpPr>
          <p:cNvPr id="14" name="TextBox 13"/>
          <p:cNvSpPr txBox="1"/>
          <p:nvPr/>
        </p:nvSpPr>
        <p:spPr>
          <a:xfrm>
            <a:off x="1554480" y="4462272"/>
            <a:ext cx="4572000" cy="365760"/>
          </a:xfrm>
          <a:prstGeom prst="rect">
            <a:avLst/>
          </a:prstGeom>
          <a:noFill/>
        </p:spPr>
        <p:txBody>
          <a:bodyPr wrap="square" lIns="0" rIns="0" tIns="0" bIns="0" anchor="t">
            <a:spAutoFit/>
          </a:bodyPr>
          <a:lstStyle/>
          <a:p>
            <a:pPr algn="l"/>
            <a:r>
              <a:rPr sz="1900" b="1" i="0">
                <a:solidFill>
                  <a:srgbClr val="0F1F2E"/>
                </a:solidFill>
                <a:latin typeface="Calibri"/>
              </a:rPr>
              <a:t>Built for people, not engineers</a:t>
            </a:r>
          </a:p>
        </p:txBody>
      </p:sp>
      <p:sp>
        <p:nvSpPr>
          <p:cNvPr id="15" name="TextBox 14"/>
          <p:cNvSpPr txBox="1"/>
          <p:nvPr/>
        </p:nvSpPr>
        <p:spPr>
          <a:xfrm>
            <a:off x="1554480" y="4846320"/>
            <a:ext cx="5760720" cy="868680"/>
          </a:xfrm>
          <a:prstGeom prst="rect">
            <a:avLst/>
          </a:prstGeom>
          <a:noFill/>
        </p:spPr>
        <p:txBody>
          <a:bodyPr wrap="square" lIns="0" rIns="0" tIns="0" bIns="0" anchor="t">
            <a:spAutoFit/>
          </a:bodyPr>
          <a:lstStyle/>
          <a:p>
            <a:pPr algn="l"/>
            <a:r>
              <a:rPr sz="1350" b="0" i="0">
                <a:solidFill>
                  <a:srgbClr val="5B6770"/>
                </a:solidFill>
                <a:latin typeface="Calibri"/>
              </a:rPr>
              <a:t>A live map for the control room, a phone screen for the ambulance driver, an operations log for supervisors, and an animated explainer in Arabic and English.</a:t>
            </a:r>
          </a:p>
        </p:txBody>
      </p:sp>
      <p:sp>
        <p:nvSpPr>
          <p:cNvPr id="16" name="Rounded Rectangle 15"/>
          <p:cNvSpPr/>
          <p:nvPr/>
        </p:nvSpPr>
        <p:spPr>
          <a:xfrm>
            <a:off x="7863840" y="1828800"/>
            <a:ext cx="3657600" cy="3931920"/>
          </a:xfrm>
          <a:prstGeom prst="roundRect">
            <a:avLst>
              <a:gd name="adj" fmla="val 3500"/>
            </a:avLst>
          </a:prstGeom>
          <a:solidFill>
            <a:srgbClr val="0F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2057400"/>
            <a:ext cx="3200400" cy="640080"/>
          </a:xfrm>
          <a:prstGeom prst="rect">
            <a:avLst/>
          </a:prstGeom>
          <a:noFill/>
        </p:spPr>
        <p:txBody>
          <a:bodyPr wrap="square" lIns="0" rIns="0" tIns="0" bIns="0" anchor="t">
            <a:spAutoFit/>
          </a:bodyPr>
          <a:lstStyle/>
          <a:p>
            <a:pPr algn="l"/>
            <a:r>
              <a:rPr sz="3400" b="1" i="0">
                <a:solidFill>
                  <a:srgbClr val="00A65A"/>
                </a:solidFill>
                <a:latin typeface="Calibri"/>
              </a:rPr>
              <a:t>78</a:t>
            </a:r>
          </a:p>
        </p:txBody>
      </p:sp>
      <p:sp>
        <p:nvSpPr>
          <p:cNvPr id="18" name="TextBox 17"/>
          <p:cNvSpPr txBox="1"/>
          <p:nvPr/>
        </p:nvSpPr>
        <p:spPr>
          <a:xfrm>
            <a:off x="8138160" y="2697480"/>
            <a:ext cx="3200400" cy="457200"/>
          </a:xfrm>
          <a:prstGeom prst="rect">
            <a:avLst/>
          </a:prstGeom>
          <a:noFill/>
        </p:spPr>
        <p:txBody>
          <a:bodyPr wrap="square" lIns="0" rIns="0" tIns="0" bIns="0" anchor="t">
            <a:spAutoFit/>
          </a:bodyPr>
          <a:lstStyle/>
          <a:p>
            <a:pPr algn="l"/>
            <a:r>
              <a:rPr sz="1300" b="0" i="0">
                <a:solidFill>
                  <a:srgbClr val="CFD8DF"/>
                </a:solidFill>
                <a:latin typeface="Calibri"/>
              </a:rPr>
              <a:t>signalized junctions, downtown model</a:t>
            </a:r>
          </a:p>
        </p:txBody>
      </p:sp>
      <p:sp>
        <p:nvSpPr>
          <p:cNvPr id="19" name="TextBox 18"/>
          <p:cNvSpPr txBox="1"/>
          <p:nvPr/>
        </p:nvSpPr>
        <p:spPr>
          <a:xfrm>
            <a:off x="8138160" y="3337560"/>
            <a:ext cx="3200400" cy="640080"/>
          </a:xfrm>
          <a:prstGeom prst="rect">
            <a:avLst/>
          </a:prstGeom>
          <a:noFill/>
        </p:spPr>
        <p:txBody>
          <a:bodyPr wrap="square" lIns="0" rIns="0" tIns="0" bIns="0" anchor="t">
            <a:spAutoFit/>
          </a:bodyPr>
          <a:lstStyle/>
          <a:p>
            <a:pPr algn="l"/>
            <a:r>
              <a:rPr sz="3400" b="1" i="0">
                <a:solidFill>
                  <a:srgbClr val="00A65A"/>
                </a:solidFill>
                <a:latin typeface="Calibri"/>
              </a:rPr>
              <a:t>223</a:t>
            </a:r>
          </a:p>
        </p:txBody>
      </p:sp>
      <p:sp>
        <p:nvSpPr>
          <p:cNvPr id="20" name="TextBox 19"/>
          <p:cNvSpPr txBox="1"/>
          <p:nvPr/>
        </p:nvSpPr>
        <p:spPr>
          <a:xfrm>
            <a:off x="8138160" y="3977639"/>
            <a:ext cx="3200400" cy="457200"/>
          </a:xfrm>
          <a:prstGeom prst="rect">
            <a:avLst/>
          </a:prstGeom>
          <a:noFill/>
        </p:spPr>
        <p:txBody>
          <a:bodyPr wrap="square" lIns="0" rIns="0" tIns="0" bIns="0" anchor="t">
            <a:spAutoFit/>
          </a:bodyPr>
          <a:lstStyle/>
          <a:p>
            <a:pPr algn="l"/>
            <a:r>
              <a:rPr sz="1300" b="0" i="0">
                <a:solidFill>
                  <a:srgbClr val="CFD8DF"/>
                </a:solidFill>
                <a:latin typeface="Calibri"/>
              </a:rPr>
              <a:t>junctions, six-governorate model</a:t>
            </a:r>
          </a:p>
        </p:txBody>
      </p:sp>
      <p:sp>
        <p:nvSpPr>
          <p:cNvPr id="21" name="TextBox 20"/>
          <p:cNvSpPr txBox="1"/>
          <p:nvPr/>
        </p:nvSpPr>
        <p:spPr>
          <a:xfrm>
            <a:off x="8138160" y="4617720"/>
            <a:ext cx="3200400" cy="640080"/>
          </a:xfrm>
          <a:prstGeom prst="rect">
            <a:avLst/>
          </a:prstGeom>
          <a:noFill/>
        </p:spPr>
        <p:txBody>
          <a:bodyPr wrap="square" lIns="0" rIns="0" tIns="0" bIns="0" anchor="t">
            <a:spAutoFit/>
          </a:bodyPr>
          <a:lstStyle/>
          <a:p>
            <a:pPr algn="l"/>
            <a:r>
              <a:rPr sz="3400" b="1" i="0">
                <a:solidFill>
                  <a:srgbClr val="00A65A"/>
                </a:solidFill>
                <a:latin typeface="Calibri"/>
              </a:rPr>
              <a:t>1 hospital</a:t>
            </a:r>
          </a:p>
        </p:txBody>
      </p:sp>
      <p:sp>
        <p:nvSpPr>
          <p:cNvPr id="22" name="TextBox 21"/>
          <p:cNvSpPr txBox="1"/>
          <p:nvPr/>
        </p:nvSpPr>
        <p:spPr>
          <a:xfrm>
            <a:off x="8138160" y="5257800"/>
            <a:ext cx="3200400" cy="457200"/>
          </a:xfrm>
          <a:prstGeom prst="rect">
            <a:avLst/>
          </a:prstGeom>
          <a:noFill/>
        </p:spPr>
        <p:txBody>
          <a:bodyPr wrap="square" lIns="0" rIns="0" tIns="0" bIns="0" anchor="t">
            <a:spAutoFit/>
          </a:bodyPr>
          <a:lstStyle/>
          <a:p>
            <a:pPr algn="l"/>
            <a:r>
              <a:rPr sz="1300" b="0" i="0">
                <a:solidFill>
                  <a:srgbClr val="CFD8DF"/>
                </a:solidFill>
                <a:latin typeface="Calibri"/>
              </a:rPr>
              <a:t>per governorate, real MoH sites</a:t>
            </a:r>
          </a:p>
        </p:txBody>
      </p:sp>
      <p:sp>
        <p:nvSpPr>
          <p:cNvPr id="23" name="TextBox 22"/>
          <p:cNvSpPr txBox="1"/>
          <p:nvPr/>
        </p:nvSpPr>
        <p:spPr>
          <a:xfrm>
            <a:off x="640080" y="6400800"/>
            <a:ext cx="10911535" cy="274320"/>
          </a:xfrm>
          <a:prstGeom prst="rect">
            <a:avLst/>
          </a:prstGeom>
          <a:noFill/>
        </p:spPr>
        <p:txBody>
          <a:bodyPr wrap="square" lIns="0" rIns="0" tIns="0" bIns="0" anchor="t">
            <a:spAutoFit/>
          </a:bodyPr>
          <a:lstStyle/>
          <a:p>
            <a:pPr algn="l"/>
            <a:r>
              <a:rPr sz="1000" b="0" i="0">
                <a:solidFill>
                  <a:srgbClr val="5B6770"/>
                </a:solidFill>
                <a:latin typeface="Calibri"/>
              </a:rPr>
              <a:t>Kuwait Ambulance Green Corridor  ·  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11535" cy="731520"/>
          </a:xfrm>
          <a:prstGeom prst="rect">
            <a:avLst/>
          </a:prstGeom>
          <a:noFill/>
        </p:spPr>
        <p:txBody>
          <a:bodyPr wrap="square" lIns="0" rIns="0" tIns="0" bIns="0" anchor="t">
            <a:spAutoFit/>
          </a:bodyPr>
          <a:lstStyle/>
          <a:p>
            <a:pPr algn="l"/>
            <a:r>
              <a:rPr sz="3400" b="1" i="0">
                <a:solidFill>
                  <a:srgbClr val="0F1F2E"/>
                </a:solidFill>
                <a:latin typeface="Calibri"/>
              </a:rPr>
              <a:t>How it works: five steps, then back to normal</a:t>
            </a:r>
          </a:p>
        </p:txBody>
      </p:sp>
      <p:sp>
        <p:nvSpPr>
          <p:cNvPr id="3" name="TextBox 2"/>
          <p:cNvSpPr txBox="1"/>
          <p:nvPr/>
        </p:nvSpPr>
        <p:spPr>
          <a:xfrm>
            <a:off x="640080" y="1097280"/>
            <a:ext cx="10911535" cy="457200"/>
          </a:xfrm>
          <a:prstGeom prst="rect">
            <a:avLst/>
          </a:prstGeom>
          <a:noFill/>
        </p:spPr>
        <p:txBody>
          <a:bodyPr wrap="square" lIns="0" rIns="0" tIns="0" bIns="0" anchor="t">
            <a:spAutoFit/>
          </a:bodyPr>
          <a:lstStyle/>
          <a:p>
            <a:pPr algn="l"/>
            <a:r>
              <a:rPr sz="1600" b="0" i="0">
                <a:solidFill>
                  <a:srgbClr val="5B6770"/>
                </a:solidFill>
                <a:latin typeface="Calibri"/>
              </a:rPr>
              <a:t>Every step happens automatically. No one in the ambulance or control room presses a button.</a:t>
            </a:r>
          </a:p>
        </p:txBody>
      </p:sp>
      <p:sp>
        <p:nvSpPr>
          <p:cNvPr id="4" name="Rounded Rectangle 3"/>
          <p:cNvSpPr/>
          <p:nvPr/>
        </p:nvSpPr>
        <p:spPr>
          <a:xfrm>
            <a:off x="640080" y="1828800"/>
            <a:ext cx="2057400" cy="4297680"/>
          </a:xfrm>
          <a:prstGeom prst="roundRect">
            <a:avLst>
              <a:gd name="adj" fmla="val 5333"/>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7319" y="2057400"/>
            <a:ext cx="434340" cy="1143000"/>
          </a:xfrm>
          <a:prstGeom prst="roundRect">
            <a:avLst>
              <a:gd name="adj" fmla="val 16842"/>
            </a:avLst>
          </a:prstGeom>
          <a:solidFill>
            <a:srgbClr val="1B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99844" y="2139924"/>
            <a:ext cx="269290" cy="26929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99844" y="2483487"/>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99844" y="2827050"/>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33832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83280"/>
            <a:ext cx="502920" cy="502920"/>
          </a:xfrm>
          <a:prstGeom prst="rect">
            <a:avLst/>
          </a:prstGeom>
          <a:noFill/>
        </p:spPr>
        <p:txBody>
          <a:bodyPr wrap="square" lIns="0" rIns="0" tIns="0" bIns="0" anchor="ctr">
            <a:spAutoFit/>
          </a:bodyPr>
          <a:lstStyle/>
          <a:p>
            <a:pPr algn="ctr"/>
            <a:r>
              <a:rPr sz="1800" b="1" i="0">
                <a:solidFill>
                  <a:srgbClr val="00A65A"/>
                </a:solidFill>
                <a:latin typeface="Calibri"/>
              </a:rPr>
              <a:t>1</a:t>
            </a:r>
          </a:p>
        </p:txBody>
      </p:sp>
      <p:sp>
        <p:nvSpPr>
          <p:cNvPr id="11" name="TextBox 10"/>
          <p:cNvSpPr txBox="1"/>
          <p:nvPr/>
        </p:nvSpPr>
        <p:spPr>
          <a:xfrm>
            <a:off x="868680" y="3977639"/>
            <a:ext cx="1691640" cy="640080"/>
          </a:xfrm>
          <a:prstGeom prst="rect">
            <a:avLst/>
          </a:prstGeom>
          <a:noFill/>
        </p:spPr>
        <p:txBody>
          <a:bodyPr wrap="square" lIns="0" rIns="0" tIns="0" bIns="0" anchor="t">
            <a:spAutoFit/>
          </a:bodyPr>
          <a:lstStyle/>
          <a:p>
            <a:pPr algn="l"/>
            <a:r>
              <a:rPr sz="1400" b="1" i="0">
                <a:solidFill>
                  <a:srgbClr val="0F1F2E"/>
                </a:solidFill>
                <a:latin typeface="Calibri"/>
              </a:rPr>
              <a:t>Camera sees the lights</a:t>
            </a:r>
          </a:p>
        </p:txBody>
      </p:sp>
      <p:sp>
        <p:nvSpPr>
          <p:cNvPr id="12" name="TextBox 11"/>
          <p:cNvSpPr txBox="1"/>
          <p:nvPr/>
        </p:nvSpPr>
        <p:spPr>
          <a:xfrm>
            <a:off x="868680" y="4572000"/>
            <a:ext cx="1691640" cy="1463040"/>
          </a:xfrm>
          <a:prstGeom prst="rect">
            <a:avLst/>
          </a:prstGeom>
          <a:noFill/>
        </p:spPr>
        <p:txBody>
          <a:bodyPr wrap="square" lIns="0" rIns="0" tIns="0" bIns="0" anchor="t">
            <a:spAutoFit/>
          </a:bodyPr>
          <a:lstStyle/>
          <a:p>
            <a:pPr algn="l"/>
            <a:r>
              <a:rPr sz="1100" b="0" i="0">
                <a:solidFill>
                  <a:srgbClr val="5B6770"/>
                </a:solidFill>
                <a:latin typeface="Calibri"/>
              </a:rPr>
              <a:t>A camera at each junction recognises an ambulance with its emergency lights on, up to 200 m away.</a:t>
            </a:r>
          </a:p>
        </p:txBody>
      </p:sp>
      <p:sp>
        <p:nvSpPr>
          <p:cNvPr id="13" name="TextBox 12"/>
          <p:cNvSpPr txBox="1"/>
          <p:nvPr/>
        </p:nvSpPr>
        <p:spPr>
          <a:xfrm>
            <a:off x="2651760" y="3566160"/>
            <a:ext cx="274320" cy="457200"/>
          </a:xfrm>
          <a:prstGeom prst="rect">
            <a:avLst/>
          </a:prstGeom>
          <a:noFill/>
        </p:spPr>
        <p:txBody>
          <a:bodyPr wrap="square" lIns="0" rIns="0" tIns="0" bIns="0" anchor="t">
            <a:spAutoFit/>
          </a:bodyPr>
          <a:lstStyle/>
          <a:p>
            <a:pPr algn="ctr"/>
            <a:r>
              <a:rPr sz="2400" b="1" i="0">
                <a:solidFill>
                  <a:srgbClr val="00A65A"/>
                </a:solidFill>
                <a:latin typeface="Calibri"/>
              </a:rPr>
              <a:t>›</a:t>
            </a:r>
          </a:p>
        </p:txBody>
      </p:sp>
      <p:sp>
        <p:nvSpPr>
          <p:cNvPr id="14" name="Rounded Rectangle 13"/>
          <p:cNvSpPr/>
          <p:nvPr/>
        </p:nvSpPr>
        <p:spPr>
          <a:xfrm>
            <a:off x="2852928" y="1828800"/>
            <a:ext cx="2057400" cy="4297680"/>
          </a:xfrm>
          <a:prstGeom prst="roundRect">
            <a:avLst>
              <a:gd name="adj" fmla="val 5333"/>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30168" y="2057400"/>
            <a:ext cx="434340" cy="1143000"/>
          </a:xfrm>
          <a:prstGeom prst="roundRect">
            <a:avLst>
              <a:gd name="adj" fmla="val 16842"/>
            </a:avLst>
          </a:prstGeom>
          <a:solidFill>
            <a:srgbClr val="1B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712692" y="2139924"/>
            <a:ext cx="269290" cy="26929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712692" y="2483487"/>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12692" y="2827050"/>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81528" y="33832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81528" y="3383280"/>
            <a:ext cx="502920" cy="502920"/>
          </a:xfrm>
          <a:prstGeom prst="rect">
            <a:avLst/>
          </a:prstGeom>
          <a:noFill/>
        </p:spPr>
        <p:txBody>
          <a:bodyPr wrap="square" lIns="0" rIns="0" tIns="0" bIns="0" anchor="ctr">
            <a:spAutoFit/>
          </a:bodyPr>
          <a:lstStyle/>
          <a:p>
            <a:pPr algn="ctr"/>
            <a:r>
              <a:rPr sz="1800" b="1" i="0">
                <a:solidFill>
                  <a:srgbClr val="00A65A"/>
                </a:solidFill>
                <a:latin typeface="Calibri"/>
              </a:rPr>
              <a:t>2</a:t>
            </a:r>
          </a:p>
        </p:txBody>
      </p:sp>
      <p:sp>
        <p:nvSpPr>
          <p:cNvPr id="21" name="TextBox 20"/>
          <p:cNvSpPr txBox="1"/>
          <p:nvPr/>
        </p:nvSpPr>
        <p:spPr>
          <a:xfrm>
            <a:off x="3081528" y="3977639"/>
            <a:ext cx="1691640" cy="640080"/>
          </a:xfrm>
          <a:prstGeom prst="rect">
            <a:avLst/>
          </a:prstGeom>
          <a:noFill/>
        </p:spPr>
        <p:txBody>
          <a:bodyPr wrap="square" lIns="0" rIns="0" tIns="0" bIns="0" anchor="t">
            <a:spAutoFit/>
          </a:bodyPr>
          <a:lstStyle/>
          <a:p>
            <a:pPr algn="l"/>
            <a:r>
              <a:rPr sz="1400" b="1" i="0">
                <a:solidFill>
                  <a:srgbClr val="0F1F2E"/>
                </a:solidFill>
                <a:latin typeface="Calibri"/>
              </a:rPr>
              <a:t>Control centre confirms</a:t>
            </a:r>
          </a:p>
        </p:txBody>
      </p:sp>
      <p:sp>
        <p:nvSpPr>
          <p:cNvPr id="22" name="TextBox 21"/>
          <p:cNvSpPr txBox="1"/>
          <p:nvPr/>
        </p:nvSpPr>
        <p:spPr>
          <a:xfrm>
            <a:off x="3081528" y="4572000"/>
            <a:ext cx="1691640" cy="1463040"/>
          </a:xfrm>
          <a:prstGeom prst="rect">
            <a:avLst/>
          </a:prstGeom>
          <a:noFill/>
        </p:spPr>
        <p:txBody>
          <a:bodyPr wrap="square" lIns="0" rIns="0" tIns="0" bIns="0" anchor="t">
            <a:spAutoFit/>
          </a:bodyPr>
          <a:lstStyle/>
          <a:p>
            <a:pPr algn="l"/>
            <a:r>
              <a:rPr sz="1100" b="0" i="0">
                <a:solidFill>
                  <a:srgbClr val="5B6770"/>
                </a:solidFill>
                <a:latin typeface="Calibri"/>
              </a:rPr>
              <a:t>The first camera hit confirms the vehicle. The centre already knows its dispatched route, so every junction ahead knows it is coming.</a:t>
            </a:r>
          </a:p>
        </p:txBody>
      </p:sp>
      <p:sp>
        <p:nvSpPr>
          <p:cNvPr id="23" name="TextBox 22"/>
          <p:cNvSpPr txBox="1"/>
          <p:nvPr/>
        </p:nvSpPr>
        <p:spPr>
          <a:xfrm>
            <a:off x="4864608" y="3566160"/>
            <a:ext cx="274320" cy="457200"/>
          </a:xfrm>
          <a:prstGeom prst="rect">
            <a:avLst/>
          </a:prstGeom>
          <a:noFill/>
        </p:spPr>
        <p:txBody>
          <a:bodyPr wrap="square" lIns="0" rIns="0" tIns="0" bIns="0" anchor="t">
            <a:spAutoFit/>
          </a:bodyPr>
          <a:lstStyle/>
          <a:p>
            <a:pPr algn="ctr"/>
            <a:r>
              <a:rPr sz="2400" b="1" i="0">
                <a:solidFill>
                  <a:srgbClr val="00A65A"/>
                </a:solidFill>
                <a:latin typeface="Calibri"/>
              </a:rPr>
              <a:t>›</a:t>
            </a:r>
          </a:p>
        </p:txBody>
      </p:sp>
      <p:sp>
        <p:nvSpPr>
          <p:cNvPr id="24" name="Rounded Rectangle 23"/>
          <p:cNvSpPr/>
          <p:nvPr/>
        </p:nvSpPr>
        <p:spPr>
          <a:xfrm>
            <a:off x="5065776" y="1828800"/>
            <a:ext cx="2057400" cy="4297680"/>
          </a:xfrm>
          <a:prstGeom prst="roundRect">
            <a:avLst>
              <a:gd name="adj" fmla="val 5333"/>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843016" y="2057400"/>
            <a:ext cx="434340" cy="1143000"/>
          </a:xfrm>
          <a:prstGeom prst="roundRect">
            <a:avLst>
              <a:gd name="adj" fmla="val 16842"/>
            </a:avLst>
          </a:prstGeom>
          <a:solidFill>
            <a:srgbClr val="1B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25540" y="2139924"/>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25540" y="2483487"/>
            <a:ext cx="269290" cy="26929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25540" y="2827050"/>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294376" y="33832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94376" y="3383280"/>
            <a:ext cx="502920" cy="502920"/>
          </a:xfrm>
          <a:prstGeom prst="rect">
            <a:avLst/>
          </a:prstGeom>
          <a:noFill/>
        </p:spPr>
        <p:txBody>
          <a:bodyPr wrap="square" lIns="0" rIns="0" tIns="0" bIns="0" anchor="ctr">
            <a:spAutoFit/>
          </a:bodyPr>
          <a:lstStyle/>
          <a:p>
            <a:pPr algn="ctr"/>
            <a:r>
              <a:rPr sz="1800" b="1" i="0">
                <a:solidFill>
                  <a:srgbClr val="00A65A"/>
                </a:solidFill>
                <a:latin typeface="Calibri"/>
              </a:rPr>
              <a:t>3</a:t>
            </a:r>
          </a:p>
        </p:txBody>
      </p:sp>
      <p:sp>
        <p:nvSpPr>
          <p:cNvPr id="31" name="TextBox 30"/>
          <p:cNvSpPr txBox="1"/>
          <p:nvPr/>
        </p:nvSpPr>
        <p:spPr>
          <a:xfrm>
            <a:off x="5294376" y="3977639"/>
            <a:ext cx="1691640" cy="640080"/>
          </a:xfrm>
          <a:prstGeom prst="rect">
            <a:avLst/>
          </a:prstGeom>
          <a:noFill/>
        </p:spPr>
        <p:txBody>
          <a:bodyPr wrap="square" lIns="0" rIns="0" tIns="0" bIns="0" anchor="t">
            <a:spAutoFit/>
          </a:bodyPr>
          <a:lstStyle/>
          <a:p>
            <a:pPr algn="l"/>
            <a:r>
              <a:rPr sz="1400" b="1" i="0">
                <a:solidFill>
                  <a:srgbClr val="0F1F2E"/>
                </a:solidFill>
                <a:latin typeface="Calibri"/>
              </a:rPr>
              <a:t>Green arrives just in time</a:t>
            </a:r>
          </a:p>
        </p:txBody>
      </p:sp>
      <p:sp>
        <p:nvSpPr>
          <p:cNvPr id="32" name="TextBox 31"/>
          <p:cNvSpPr txBox="1"/>
          <p:nvPr/>
        </p:nvSpPr>
        <p:spPr>
          <a:xfrm>
            <a:off x="5294376" y="4572000"/>
            <a:ext cx="1691640" cy="1463040"/>
          </a:xfrm>
          <a:prstGeom prst="rect">
            <a:avLst/>
          </a:prstGeom>
          <a:noFill/>
        </p:spPr>
        <p:txBody>
          <a:bodyPr wrap="square" lIns="0" rIns="0" tIns="0" bIns="0" anchor="t">
            <a:spAutoFit/>
          </a:bodyPr>
          <a:lstStyle/>
          <a:p>
            <a:pPr algn="l"/>
            <a:r>
              <a:rPr sz="1100" b="0" i="0">
                <a:solidFill>
                  <a:srgbClr val="5B6770"/>
                </a:solidFill>
                <a:latin typeface="Calibri"/>
              </a:rPr>
              <a:t>Each signal switches about 25 seconds before the ambulance reaches it — so the queue in front has time to clear.</a:t>
            </a:r>
          </a:p>
        </p:txBody>
      </p:sp>
      <p:sp>
        <p:nvSpPr>
          <p:cNvPr id="33" name="TextBox 32"/>
          <p:cNvSpPr txBox="1"/>
          <p:nvPr/>
        </p:nvSpPr>
        <p:spPr>
          <a:xfrm>
            <a:off x="7077456" y="3566160"/>
            <a:ext cx="274320" cy="457200"/>
          </a:xfrm>
          <a:prstGeom prst="rect">
            <a:avLst/>
          </a:prstGeom>
          <a:noFill/>
        </p:spPr>
        <p:txBody>
          <a:bodyPr wrap="square" lIns="0" rIns="0" tIns="0" bIns="0" anchor="t">
            <a:spAutoFit/>
          </a:bodyPr>
          <a:lstStyle/>
          <a:p>
            <a:pPr algn="ctr"/>
            <a:r>
              <a:rPr sz="2400" b="1" i="0">
                <a:solidFill>
                  <a:srgbClr val="00A65A"/>
                </a:solidFill>
                <a:latin typeface="Calibri"/>
              </a:rPr>
              <a:t>›</a:t>
            </a:r>
          </a:p>
        </p:txBody>
      </p:sp>
      <p:sp>
        <p:nvSpPr>
          <p:cNvPr id="34" name="Rounded Rectangle 33"/>
          <p:cNvSpPr/>
          <p:nvPr/>
        </p:nvSpPr>
        <p:spPr>
          <a:xfrm>
            <a:off x="7278624" y="1828800"/>
            <a:ext cx="2057400" cy="4297680"/>
          </a:xfrm>
          <a:prstGeom prst="roundRect">
            <a:avLst>
              <a:gd name="adj" fmla="val 5333"/>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55864" y="2057400"/>
            <a:ext cx="434340" cy="1143000"/>
          </a:xfrm>
          <a:prstGeom prst="roundRect">
            <a:avLst>
              <a:gd name="adj" fmla="val 16842"/>
            </a:avLst>
          </a:prstGeom>
          <a:solidFill>
            <a:srgbClr val="1B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138388" y="2139924"/>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138388" y="2483487"/>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38388" y="2827050"/>
            <a:ext cx="269290" cy="269290"/>
          </a:xfrm>
          <a:prstGeom prst="ellipse">
            <a:avLst/>
          </a:prstGeom>
          <a:solidFill>
            <a:srgbClr val="00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07224" y="33832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07224" y="3383280"/>
            <a:ext cx="502920" cy="502920"/>
          </a:xfrm>
          <a:prstGeom prst="rect">
            <a:avLst/>
          </a:prstGeom>
          <a:noFill/>
        </p:spPr>
        <p:txBody>
          <a:bodyPr wrap="square" lIns="0" rIns="0" tIns="0" bIns="0" anchor="ctr">
            <a:spAutoFit/>
          </a:bodyPr>
          <a:lstStyle/>
          <a:p>
            <a:pPr algn="ctr"/>
            <a:r>
              <a:rPr sz="1800" b="1" i="0">
                <a:solidFill>
                  <a:srgbClr val="00A65A"/>
                </a:solidFill>
                <a:latin typeface="Calibri"/>
              </a:rPr>
              <a:t>4</a:t>
            </a:r>
          </a:p>
        </p:txBody>
      </p:sp>
      <p:sp>
        <p:nvSpPr>
          <p:cNvPr id="41" name="TextBox 40"/>
          <p:cNvSpPr txBox="1"/>
          <p:nvPr/>
        </p:nvSpPr>
        <p:spPr>
          <a:xfrm>
            <a:off x="7507224" y="3977639"/>
            <a:ext cx="1691640" cy="640080"/>
          </a:xfrm>
          <a:prstGeom prst="rect">
            <a:avLst/>
          </a:prstGeom>
          <a:noFill/>
        </p:spPr>
        <p:txBody>
          <a:bodyPr wrap="square" lIns="0" rIns="0" tIns="0" bIns="0" anchor="t">
            <a:spAutoFit/>
          </a:bodyPr>
          <a:lstStyle/>
          <a:p>
            <a:pPr algn="l"/>
            <a:r>
              <a:rPr sz="1400" b="1" i="0">
                <a:solidFill>
                  <a:srgbClr val="0F1F2E"/>
                </a:solidFill>
                <a:latin typeface="Calibri"/>
              </a:rPr>
              <a:t>Ambulance passes on green</a:t>
            </a:r>
          </a:p>
        </p:txBody>
      </p:sp>
      <p:sp>
        <p:nvSpPr>
          <p:cNvPr id="42" name="TextBox 41"/>
          <p:cNvSpPr txBox="1"/>
          <p:nvPr/>
        </p:nvSpPr>
        <p:spPr>
          <a:xfrm>
            <a:off x="7507224" y="4572000"/>
            <a:ext cx="1691640" cy="1463040"/>
          </a:xfrm>
          <a:prstGeom prst="rect">
            <a:avLst/>
          </a:prstGeom>
          <a:noFill/>
        </p:spPr>
        <p:txBody>
          <a:bodyPr wrap="square" lIns="0" rIns="0" tIns="0" bIns="0" anchor="t">
            <a:spAutoFit/>
          </a:bodyPr>
          <a:lstStyle/>
          <a:p>
            <a:pPr algn="l"/>
            <a:r>
              <a:rPr sz="1100" b="0" i="0">
                <a:solidFill>
                  <a:srgbClr val="5B6770"/>
                </a:solidFill>
                <a:latin typeface="Calibri"/>
              </a:rPr>
              <a:t>Conflicting directions wait at red. The ambulance crosses at speed without ever facing a red light.</a:t>
            </a:r>
          </a:p>
        </p:txBody>
      </p:sp>
      <p:sp>
        <p:nvSpPr>
          <p:cNvPr id="43" name="TextBox 42"/>
          <p:cNvSpPr txBox="1"/>
          <p:nvPr/>
        </p:nvSpPr>
        <p:spPr>
          <a:xfrm>
            <a:off x="9290304" y="3566160"/>
            <a:ext cx="274320" cy="457200"/>
          </a:xfrm>
          <a:prstGeom prst="rect">
            <a:avLst/>
          </a:prstGeom>
          <a:noFill/>
        </p:spPr>
        <p:txBody>
          <a:bodyPr wrap="square" lIns="0" rIns="0" tIns="0" bIns="0" anchor="t">
            <a:spAutoFit/>
          </a:bodyPr>
          <a:lstStyle/>
          <a:p>
            <a:pPr algn="ctr"/>
            <a:r>
              <a:rPr sz="2400" b="1" i="0">
                <a:solidFill>
                  <a:srgbClr val="00A65A"/>
                </a:solidFill>
                <a:latin typeface="Calibri"/>
              </a:rPr>
              <a:t>›</a:t>
            </a:r>
          </a:p>
        </p:txBody>
      </p:sp>
      <p:sp>
        <p:nvSpPr>
          <p:cNvPr id="44" name="Rounded Rectangle 43"/>
          <p:cNvSpPr/>
          <p:nvPr/>
        </p:nvSpPr>
        <p:spPr>
          <a:xfrm>
            <a:off x="9491472" y="1828800"/>
            <a:ext cx="2057400" cy="4297680"/>
          </a:xfrm>
          <a:prstGeom prst="roundRect">
            <a:avLst>
              <a:gd name="adj" fmla="val 5333"/>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10268711" y="2057400"/>
            <a:ext cx="434340" cy="1143000"/>
          </a:xfrm>
          <a:prstGeom prst="roundRect">
            <a:avLst>
              <a:gd name="adj" fmla="val 16842"/>
            </a:avLst>
          </a:prstGeom>
          <a:solidFill>
            <a:srgbClr val="1B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351236" y="2139924"/>
            <a:ext cx="269290" cy="26929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351236" y="2483487"/>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351236" y="2827050"/>
            <a:ext cx="269290" cy="269290"/>
          </a:xfrm>
          <a:prstGeom prst="ellipse">
            <a:avLst/>
          </a:prstGeom>
          <a:solidFill>
            <a:srgbClr val="2E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20072" y="338328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20072" y="3383280"/>
            <a:ext cx="502920" cy="502920"/>
          </a:xfrm>
          <a:prstGeom prst="rect">
            <a:avLst/>
          </a:prstGeom>
          <a:noFill/>
        </p:spPr>
        <p:txBody>
          <a:bodyPr wrap="square" lIns="0" rIns="0" tIns="0" bIns="0" anchor="ctr">
            <a:spAutoFit/>
          </a:bodyPr>
          <a:lstStyle/>
          <a:p>
            <a:pPr algn="ctr"/>
            <a:r>
              <a:rPr sz="1800" b="1" i="0">
                <a:solidFill>
                  <a:srgbClr val="00A65A"/>
                </a:solidFill>
                <a:latin typeface="Calibri"/>
              </a:rPr>
              <a:t>5</a:t>
            </a:r>
          </a:p>
        </p:txBody>
      </p:sp>
      <p:sp>
        <p:nvSpPr>
          <p:cNvPr id="51" name="TextBox 50"/>
          <p:cNvSpPr txBox="1"/>
          <p:nvPr/>
        </p:nvSpPr>
        <p:spPr>
          <a:xfrm>
            <a:off x="9720072" y="3977639"/>
            <a:ext cx="1691640" cy="640080"/>
          </a:xfrm>
          <a:prstGeom prst="rect">
            <a:avLst/>
          </a:prstGeom>
          <a:noFill/>
        </p:spPr>
        <p:txBody>
          <a:bodyPr wrap="square" lIns="0" rIns="0" tIns="0" bIns="0" anchor="t">
            <a:spAutoFit/>
          </a:bodyPr>
          <a:lstStyle/>
          <a:p>
            <a:pPr algn="l"/>
            <a:r>
              <a:rPr sz="1400" b="1" i="0">
                <a:solidFill>
                  <a:srgbClr val="0F1F2E"/>
                </a:solidFill>
                <a:latin typeface="Calibri"/>
              </a:rPr>
              <a:t>Back to normal</a:t>
            </a:r>
          </a:p>
        </p:txBody>
      </p:sp>
      <p:sp>
        <p:nvSpPr>
          <p:cNvPr id="52" name="TextBox 51"/>
          <p:cNvSpPr txBox="1"/>
          <p:nvPr/>
        </p:nvSpPr>
        <p:spPr>
          <a:xfrm>
            <a:off x="9720072" y="4572000"/>
            <a:ext cx="1691640" cy="1463040"/>
          </a:xfrm>
          <a:prstGeom prst="rect">
            <a:avLst/>
          </a:prstGeom>
          <a:noFill/>
        </p:spPr>
        <p:txBody>
          <a:bodyPr wrap="square" lIns="0" rIns="0" tIns="0" bIns="0" anchor="t">
            <a:spAutoFit/>
          </a:bodyPr>
          <a:lstStyle/>
          <a:p>
            <a:pPr algn="l"/>
            <a:r>
              <a:rPr sz="1100" b="0" i="0">
                <a:solidFill>
                  <a:srgbClr val="5B6770"/>
                </a:solidFill>
                <a:latin typeface="Calibri"/>
              </a:rPr>
              <a:t>Two seconds after it passes, the junction returns to its normal programme. Cross traffic resumes.</a:t>
            </a:r>
          </a:p>
        </p:txBody>
      </p:sp>
      <p:sp>
        <p:nvSpPr>
          <p:cNvPr id="53" name="TextBox 52"/>
          <p:cNvSpPr txBox="1"/>
          <p:nvPr/>
        </p:nvSpPr>
        <p:spPr>
          <a:xfrm>
            <a:off x="640080" y="6400800"/>
            <a:ext cx="10911535" cy="274320"/>
          </a:xfrm>
          <a:prstGeom prst="rect">
            <a:avLst/>
          </a:prstGeom>
          <a:noFill/>
        </p:spPr>
        <p:txBody>
          <a:bodyPr wrap="square" lIns="0" rIns="0" tIns="0" bIns="0" anchor="t">
            <a:spAutoFit/>
          </a:bodyPr>
          <a:lstStyle/>
          <a:p>
            <a:pPr algn="l"/>
            <a:r>
              <a:rPr sz="1000" b="0" i="0">
                <a:solidFill>
                  <a:srgbClr val="5B6770"/>
                </a:solidFill>
                <a:latin typeface="Calibri"/>
              </a:rPr>
              <a:t>Kuwait Ambulance Green Corridor  ·  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11535" cy="731520"/>
          </a:xfrm>
          <a:prstGeom prst="rect">
            <a:avLst/>
          </a:prstGeom>
          <a:noFill/>
        </p:spPr>
        <p:txBody>
          <a:bodyPr wrap="square" lIns="0" rIns="0" tIns="0" bIns="0" anchor="t">
            <a:spAutoFit/>
          </a:bodyPr>
          <a:lstStyle/>
          <a:p>
            <a:pPr algn="l"/>
            <a:r>
              <a:rPr sz="3400" b="1" i="0">
                <a:solidFill>
                  <a:srgbClr val="0F1F2E"/>
                </a:solidFill>
                <a:latin typeface="Calibri"/>
              </a:rPr>
              <a:t>Safety first: what the system will never do</a:t>
            </a:r>
          </a:p>
        </p:txBody>
      </p:sp>
      <p:sp>
        <p:nvSpPr>
          <p:cNvPr id="3" name="TextBox 2"/>
          <p:cNvSpPr txBox="1"/>
          <p:nvPr/>
        </p:nvSpPr>
        <p:spPr>
          <a:xfrm>
            <a:off x="640080" y="1097280"/>
            <a:ext cx="10911535" cy="457200"/>
          </a:xfrm>
          <a:prstGeom prst="rect">
            <a:avLst/>
          </a:prstGeom>
          <a:noFill/>
        </p:spPr>
        <p:txBody>
          <a:bodyPr wrap="square" lIns="0" rIns="0" tIns="0" bIns="0" anchor="t">
            <a:spAutoFit/>
          </a:bodyPr>
          <a:lstStyle/>
          <a:p>
            <a:pPr algn="l"/>
            <a:r>
              <a:rPr sz="1600" b="0" i="0">
                <a:solidFill>
                  <a:srgbClr val="5B6770"/>
                </a:solidFill>
                <a:latin typeface="Calibri"/>
              </a:rPr>
              <a:t>A green corridor is only acceptable if it is at least as safe as a normal signal. These rules are built in.</a:t>
            </a:r>
          </a:p>
        </p:txBody>
      </p:sp>
      <p:sp>
        <p:nvSpPr>
          <p:cNvPr id="4" name="Rounded Rectangle 3"/>
          <p:cNvSpPr/>
          <p:nvPr/>
        </p:nvSpPr>
        <p:spPr>
          <a:xfrm>
            <a:off x="640080" y="1828800"/>
            <a:ext cx="5349240" cy="1920240"/>
          </a:xfrm>
          <a:prstGeom prst="roundRect">
            <a:avLst>
              <a:gd name="adj" fmla="val 5714"/>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640080" cy="640080"/>
          </a:xfrm>
          <a:prstGeom prst="rect">
            <a:avLst/>
          </a:prstGeom>
          <a:noFill/>
        </p:spPr>
        <p:txBody>
          <a:bodyPr wrap="square" lIns="0" rIns="0" tIns="0" bIns="0" anchor="ctr">
            <a:spAutoFit/>
          </a:bodyPr>
          <a:lstStyle/>
          <a:p>
            <a:pPr algn="ctr"/>
            <a:r>
              <a:rPr sz="2300" b="1" i="0">
                <a:solidFill>
                  <a:srgbClr val="00A65A"/>
                </a:solidFill>
                <a:latin typeface="Calibri"/>
              </a:rPr>
              <a:t>✓</a:t>
            </a:r>
          </a:p>
        </p:txBody>
      </p:sp>
      <p:sp>
        <p:nvSpPr>
          <p:cNvPr id="7" name="TextBox 6"/>
          <p:cNvSpPr txBox="1"/>
          <p:nvPr/>
        </p:nvSpPr>
        <p:spPr>
          <a:xfrm>
            <a:off x="1783080" y="2084832"/>
            <a:ext cx="3931920" cy="411480"/>
          </a:xfrm>
          <a:prstGeom prst="rect">
            <a:avLst/>
          </a:prstGeom>
          <a:noFill/>
        </p:spPr>
        <p:txBody>
          <a:bodyPr wrap="square" lIns="0" rIns="0" tIns="0" bIns="0" anchor="t">
            <a:spAutoFit/>
          </a:bodyPr>
          <a:lstStyle/>
          <a:p>
            <a:pPr algn="l"/>
            <a:r>
              <a:rPr sz="1800" b="1" i="0">
                <a:solidFill>
                  <a:srgbClr val="0F1F2E"/>
                </a:solidFill>
                <a:latin typeface="Calibri"/>
              </a:rPr>
              <a:t>Never a sudden switch</a:t>
            </a:r>
          </a:p>
        </p:txBody>
      </p:sp>
      <p:sp>
        <p:nvSpPr>
          <p:cNvPr id="8" name="TextBox 7"/>
          <p:cNvSpPr txBox="1"/>
          <p:nvPr/>
        </p:nvSpPr>
        <p:spPr>
          <a:xfrm>
            <a:off x="1783080" y="2542032"/>
            <a:ext cx="3977639" cy="1097280"/>
          </a:xfrm>
          <a:prstGeom prst="rect">
            <a:avLst/>
          </a:prstGeom>
          <a:noFill/>
        </p:spPr>
        <p:txBody>
          <a:bodyPr wrap="square" lIns="0" rIns="0" tIns="0" bIns="0" anchor="t">
            <a:spAutoFit/>
          </a:bodyPr>
          <a:lstStyle/>
          <a:p>
            <a:pPr algn="l"/>
            <a:r>
              <a:rPr sz="1250" b="0" i="0">
                <a:solidFill>
                  <a:srgbClr val="5B6770"/>
                </a:solidFill>
                <a:latin typeface="Calibri"/>
              </a:rPr>
              <a:t>Conflicting traffic always gets 3 seconds of amber, then 2 seconds of all-red, before the corridor turns green. Cars already inside the junction have time to leave.</a:t>
            </a:r>
          </a:p>
        </p:txBody>
      </p:sp>
      <p:sp>
        <p:nvSpPr>
          <p:cNvPr id="9" name="Rounded Rectangle 8"/>
          <p:cNvSpPr/>
          <p:nvPr/>
        </p:nvSpPr>
        <p:spPr>
          <a:xfrm>
            <a:off x="6217920" y="1828800"/>
            <a:ext cx="5349240" cy="1920240"/>
          </a:xfrm>
          <a:prstGeom prst="roundRect">
            <a:avLst>
              <a:gd name="adj" fmla="val 5714"/>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210312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03120"/>
            <a:ext cx="640080" cy="640080"/>
          </a:xfrm>
          <a:prstGeom prst="rect">
            <a:avLst/>
          </a:prstGeom>
          <a:noFill/>
        </p:spPr>
        <p:txBody>
          <a:bodyPr wrap="square" lIns="0" rIns="0" tIns="0" bIns="0" anchor="ctr">
            <a:spAutoFit/>
          </a:bodyPr>
          <a:lstStyle/>
          <a:p>
            <a:pPr algn="ctr"/>
            <a:r>
              <a:rPr sz="2300" b="1" i="0">
                <a:solidFill>
                  <a:srgbClr val="00A65A"/>
                </a:solidFill>
                <a:latin typeface="Calibri"/>
              </a:rPr>
              <a:t>✓</a:t>
            </a:r>
          </a:p>
        </p:txBody>
      </p:sp>
      <p:sp>
        <p:nvSpPr>
          <p:cNvPr id="12" name="TextBox 11"/>
          <p:cNvSpPr txBox="1"/>
          <p:nvPr/>
        </p:nvSpPr>
        <p:spPr>
          <a:xfrm>
            <a:off x="7360920" y="2084832"/>
            <a:ext cx="3931920" cy="411480"/>
          </a:xfrm>
          <a:prstGeom prst="rect">
            <a:avLst/>
          </a:prstGeom>
          <a:noFill/>
        </p:spPr>
        <p:txBody>
          <a:bodyPr wrap="square" lIns="0" rIns="0" tIns="0" bIns="0" anchor="t">
            <a:spAutoFit/>
          </a:bodyPr>
          <a:lstStyle/>
          <a:p>
            <a:pPr algn="l"/>
            <a:r>
              <a:rPr sz="1800" b="1" i="0">
                <a:solidFill>
                  <a:srgbClr val="0F1F2E"/>
                </a:solidFill>
                <a:latin typeface="Calibri"/>
              </a:rPr>
              <a:t>Never a dark signal</a:t>
            </a:r>
          </a:p>
        </p:txBody>
      </p:sp>
      <p:sp>
        <p:nvSpPr>
          <p:cNvPr id="13" name="TextBox 12"/>
          <p:cNvSpPr txBox="1"/>
          <p:nvPr/>
        </p:nvSpPr>
        <p:spPr>
          <a:xfrm>
            <a:off x="7360920" y="2542032"/>
            <a:ext cx="3977639" cy="1097280"/>
          </a:xfrm>
          <a:prstGeom prst="rect">
            <a:avLst/>
          </a:prstGeom>
          <a:noFill/>
        </p:spPr>
        <p:txBody>
          <a:bodyPr wrap="square" lIns="0" rIns="0" tIns="0" bIns="0" anchor="t">
            <a:spAutoFit/>
          </a:bodyPr>
          <a:lstStyle/>
          <a:p>
            <a:pPr algn="l"/>
            <a:r>
              <a:rPr sz="1250" b="0" i="0">
                <a:solidFill>
                  <a:srgbClr val="5B6770"/>
                </a:solidFill>
                <a:latin typeface="Calibri"/>
              </a:rPr>
              <a:t>Signals are never switched off. Every junction always shows a proper red, amber or green to every direction.</a:t>
            </a:r>
          </a:p>
        </p:txBody>
      </p:sp>
      <p:sp>
        <p:nvSpPr>
          <p:cNvPr id="14" name="Rounded Rectangle 13"/>
          <p:cNvSpPr/>
          <p:nvPr/>
        </p:nvSpPr>
        <p:spPr>
          <a:xfrm>
            <a:off x="640080" y="3977639"/>
            <a:ext cx="5349240" cy="1920240"/>
          </a:xfrm>
          <a:prstGeom prst="roundRect">
            <a:avLst>
              <a:gd name="adj" fmla="val 5714"/>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4251959"/>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51959"/>
            <a:ext cx="640080" cy="640080"/>
          </a:xfrm>
          <a:prstGeom prst="rect">
            <a:avLst/>
          </a:prstGeom>
          <a:noFill/>
        </p:spPr>
        <p:txBody>
          <a:bodyPr wrap="square" lIns="0" rIns="0" tIns="0" bIns="0" anchor="ctr">
            <a:spAutoFit/>
          </a:bodyPr>
          <a:lstStyle/>
          <a:p>
            <a:pPr algn="ctr"/>
            <a:r>
              <a:rPr sz="2300" b="1" i="0">
                <a:solidFill>
                  <a:srgbClr val="00A65A"/>
                </a:solidFill>
                <a:latin typeface="Calibri"/>
              </a:rPr>
              <a:t>✓</a:t>
            </a:r>
          </a:p>
        </p:txBody>
      </p:sp>
      <p:sp>
        <p:nvSpPr>
          <p:cNvPr id="17" name="TextBox 16"/>
          <p:cNvSpPr txBox="1"/>
          <p:nvPr/>
        </p:nvSpPr>
        <p:spPr>
          <a:xfrm>
            <a:off x="1783080" y="4233672"/>
            <a:ext cx="3931920" cy="411480"/>
          </a:xfrm>
          <a:prstGeom prst="rect">
            <a:avLst/>
          </a:prstGeom>
          <a:noFill/>
        </p:spPr>
        <p:txBody>
          <a:bodyPr wrap="square" lIns="0" rIns="0" tIns="0" bIns="0" anchor="t">
            <a:spAutoFit/>
          </a:bodyPr>
          <a:lstStyle/>
          <a:p>
            <a:pPr algn="l"/>
            <a:r>
              <a:rPr sz="1800" b="1" i="0">
                <a:solidFill>
                  <a:srgbClr val="0F1F2E"/>
                </a:solidFill>
                <a:latin typeface="Calibri"/>
              </a:rPr>
              <a:t>Never held too long</a:t>
            </a:r>
          </a:p>
        </p:txBody>
      </p:sp>
      <p:sp>
        <p:nvSpPr>
          <p:cNvPr id="18" name="TextBox 17"/>
          <p:cNvSpPr txBox="1"/>
          <p:nvPr/>
        </p:nvSpPr>
        <p:spPr>
          <a:xfrm>
            <a:off x="1783080" y="4690872"/>
            <a:ext cx="3977639" cy="1097280"/>
          </a:xfrm>
          <a:prstGeom prst="rect">
            <a:avLst/>
          </a:prstGeom>
          <a:noFill/>
        </p:spPr>
        <p:txBody>
          <a:bodyPr wrap="square" lIns="0" rIns="0" tIns="0" bIns="0" anchor="t">
            <a:spAutoFit/>
          </a:bodyPr>
          <a:lstStyle/>
          <a:p>
            <a:pPr algn="l"/>
            <a:r>
              <a:rPr sz="1250" b="0" i="0">
                <a:solidFill>
                  <a:srgbClr val="5B6770"/>
                </a:solidFill>
                <a:latin typeface="Calibri"/>
              </a:rPr>
              <a:t>A single hold is capped at 90 seconds. After that, cross traffic is guaranteed a normal cycle — unless the ambulance is already at the stop line.</a:t>
            </a:r>
          </a:p>
        </p:txBody>
      </p:sp>
      <p:sp>
        <p:nvSpPr>
          <p:cNvPr id="19" name="Rounded Rectangle 18"/>
          <p:cNvSpPr/>
          <p:nvPr/>
        </p:nvSpPr>
        <p:spPr>
          <a:xfrm>
            <a:off x="6217920" y="3977639"/>
            <a:ext cx="5349240" cy="1920240"/>
          </a:xfrm>
          <a:prstGeom prst="roundRect">
            <a:avLst>
              <a:gd name="adj" fmla="val 5714"/>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92240" y="4251959"/>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251959"/>
            <a:ext cx="640080" cy="640080"/>
          </a:xfrm>
          <a:prstGeom prst="rect">
            <a:avLst/>
          </a:prstGeom>
          <a:noFill/>
        </p:spPr>
        <p:txBody>
          <a:bodyPr wrap="square" lIns="0" rIns="0" tIns="0" bIns="0" anchor="ctr">
            <a:spAutoFit/>
          </a:bodyPr>
          <a:lstStyle/>
          <a:p>
            <a:pPr algn="ctr"/>
            <a:r>
              <a:rPr sz="2300" b="1" i="0">
                <a:solidFill>
                  <a:srgbClr val="00A65A"/>
                </a:solidFill>
                <a:latin typeface="Calibri"/>
              </a:rPr>
              <a:t>✓</a:t>
            </a:r>
          </a:p>
        </p:txBody>
      </p:sp>
      <p:sp>
        <p:nvSpPr>
          <p:cNvPr id="22" name="TextBox 21"/>
          <p:cNvSpPr txBox="1"/>
          <p:nvPr/>
        </p:nvSpPr>
        <p:spPr>
          <a:xfrm>
            <a:off x="7360920" y="4233672"/>
            <a:ext cx="3931920" cy="411480"/>
          </a:xfrm>
          <a:prstGeom prst="rect">
            <a:avLst/>
          </a:prstGeom>
          <a:noFill/>
        </p:spPr>
        <p:txBody>
          <a:bodyPr wrap="square" lIns="0" rIns="0" tIns="0" bIns="0" anchor="t">
            <a:spAutoFit/>
          </a:bodyPr>
          <a:lstStyle/>
          <a:p>
            <a:pPr algn="l"/>
            <a:r>
              <a:rPr sz="1800" b="1" i="0">
                <a:solidFill>
                  <a:srgbClr val="0F1F2E"/>
                </a:solidFill>
                <a:latin typeface="Calibri"/>
              </a:rPr>
              <a:t>Never boxed in</a:t>
            </a:r>
          </a:p>
        </p:txBody>
      </p:sp>
      <p:sp>
        <p:nvSpPr>
          <p:cNvPr id="23" name="TextBox 22"/>
          <p:cNvSpPr txBox="1"/>
          <p:nvPr/>
        </p:nvSpPr>
        <p:spPr>
          <a:xfrm>
            <a:off x="7360920" y="4690872"/>
            <a:ext cx="3977639" cy="1097280"/>
          </a:xfrm>
          <a:prstGeom prst="rect">
            <a:avLst/>
          </a:prstGeom>
          <a:noFill/>
        </p:spPr>
        <p:txBody>
          <a:bodyPr wrap="square" lIns="0" rIns="0" tIns="0" bIns="0" anchor="t">
            <a:spAutoFit/>
          </a:bodyPr>
          <a:lstStyle/>
          <a:p>
            <a:pPr algn="l"/>
            <a:r>
              <a:rPr sz="1250" b="0" i="0">
                <a:solidFill>
                  <a:srgbClr val="5B6770"/>
                </a:solidFill>
                <a:latin typeface="Calibri"/>
              </a:rPr>
              <a:t>While the ambulance is physically inside the junction, the green is kept. A signal can never return to red with the ambulance halfway across.</a:t>
            </a:r>
          </a:p>
        </p:txBody>
      </p:sp>
      <p:sp>
        <p:nvSpPr>
          <p:cNvPr id="24" name="TextBox 23"/>
          <p:cNvSpPr txBox="1"/>
          <p:nvPr/>
        </p:nvSpPr>
        <p:spPr>
          <a:xfrm>
            <a:off x="640080" y="6400800"/>
            <a:ext cx="10911535" cy="274320"/>
          </a:xfrm>
          <a:prstGeom prst="rect">
            <a:avLst/>
          </a:prstGeom>
          <a:noFill/>
        </p:spPr>
        <p:txBody>
          <a:bodyPr wrap="square" lIns="0" rIns="0" tIns="0" bIns="0" anchor="t">
            <a:spAutoFit/>
          </a:bodyPr>
          <a:lstStyle/>
          <a:p>
            <a:pPr algn="l"/>
            <a:r>
              <a:rPr sz="1000" b="0" i="0">
                <a:solidFill>
                  <a:srgbClr val="5B6770"/>
                </a:solidFill>
                <a:latin typeface="Calibri"/>
              </a:rPr>
              <a:t>Kuwait Ambulance Green Corridor  ·  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11535" cy="731520"/>
          </a:xfrm>
          <a:prstGeom prst="rect">
            <a:avLst/>
          </a:prstGeom>
          <a:noFill/>
        </p:spPr>
        <p:txBody>
          <a:bodyPr wrap="square" lIns="0" rIns="0" tIns="0" bIns="0" anchor="t">
            <a:spAutoFit/>
          </a:bodyPr>
          <a:lstStyle/>
          <a:p>
            <a:pPr algn="l"/>
            <a:r>
              <a:rPr sz="3400" b="1" i="0">
                <a:solidFill>
                  <a:srgbClr val="0F1F2E"/>
                </a:solidFill>
                <a:latin typeface="Calibri"/>
              </a:rPr>
              <a:t>Beyond the green light: the intelligence around it</a:t>
            </a:r>
          </a:p>
        </p:txBody>
      </p:sp>
      <p:sp>
        <p:nvSpPr>
          <p:cNvPr id="3" name="TextBox 2"/>
          <p:cNvSpPr txBox="1"/>
          <p:nvPr/>
        </p:nvSpPr>
        <p:spPr>
          <a:xfrm>
            <a:off x="640080" y="1097280"/>
            <a:ext cx="10911535" cy="457200"/>
          </a:xfrm>
          <a:prstGeom prst="rect">
            <a:avLst/>
          </a:prstGeom>
          <a:noFill/>
        </p:spPr>
        <p:txBody>
          <a:bodyPr wrap="square" lIns="0" rIns="0" tIns="0" bIns="0" anchor="t">
            <a:spAutoFit/>
          </a:bodyPr>
          <a:lstStyle/>
          <a:p>
            <a:pPr algn="l"/>
            <a:r>
              <a:rPr sz="1600" b="0" i="0">
                <a:solidFill>
                  <a:srgbClr val="5B6770"/>
                </a:solidFill>
                <a:latin typeface="Calibri"/>
              </a:rPr>
              <a:t>Six capabilities that turn a signal trick into an operating system for emergencies.</a:t>
            </a:r>
          </a:p>
        </p:txBody>
      </p:sp>
      <p:sp>
        <p:nvSpPr>
          <p:cNvPr id="4" name="Oval 3"/>
          <p:cNvSpPr/>
          <p:nvPr/>
        </p:nvSpPr>
        <p:spPr>
          <a:xfrm>
            <a:off x="640080" y="1828800"/>
            <a:ext cx="594360" cy="59436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594360" cy="594360"/>
          </a:xfrm>
          <a:prstGeom prst="rect">
            <a:avLst/>
          </a:prstGeom>
          <a:noFill/>
        </p:spPr>
        <p:txBody>
          <a:bodyPr wrap="square" lIns="0" rIns="0" tIns="0" bIns="0" anchor="ctr">
            <a:spAutoFit/>
          </a:bodyPr>
          <a:lstStyle/>
          <a:p>
            <a:pPr algn="ctr"/>
            <a:r>
              <a:rPr sz="2200" b="1" i="0">
                <a:solidFill>
                  <a:srgbClr val="00A65A"/>
                </a:solidFill>
                <a:latin typeface="Calibri"/>
              </a:rPr>
              <a:t>1</a:t>
            </a:r>
          </a:p>
        </p:txBody>
      </p:sp>
      <p:sp>
        <p:nvSpPr>
          <p:cNvPr id="6" name="TextBox 5"/>
          <p:cNvSpPr txBox="1"/>
          <p:nvPr/>
        </p:nvSpPr>
        <p:spPr>
          <a:xfrm>
            <a:off x="1417319" y="1828800"/>
            <a:ext cx="2697480" cy="594360"/>
          </a:xfrm>
          <a:prstGeom prst="rect">
            <a:avLst/>
          </a:prstGeom>
          <a:noFill/>
        </p:spPr>
        <p:txBody>
          <a:bodyPr wrap="square" lIns="0" rIns="0" tIns="0" bIns="0" anchor="t">
            <a:spAutoFit/>
          </a:bodyPr>
          <a:lstStyle/>
          <a:p>
            <a:pPr algn="l"/>
            <a:r>
              <a:rPr sz="1500" b="1" i="0">
                <a:solidFill>
                  <a:srgbClr val="0F1F2E"/>
                </a:solidFill>
                <a:latin typeface="Calibri"/>
              </a:rPr>
              <a:t>Own route planner</a:t>
            </a:r>
          </a:p>
        </p:txBody>
      </p:sp>
      <p:sp>
        <p:nvSpPr>
          <p:cNvPr id="7" name="TextBox 6"/>
          <p:cNvSpPr txBox="1"/>
          <p:nvPr/>
        </p:nvSpPr>
        <p:spPr>
          <a:xfrm>
            <a:off x="640080" y="2606040"/>
            <a:ext cx="3429000" cy="1280160"/>
          </a:xfrm>
          <a:prstGeom prst="rect">
            <a:avLst/>
          </a:prstGeom>
          <a:noFill/>
        </p:spPr>
        <p:txBody>
          <a:bodyPr wrap="square" lIns="0" rIns="0" tIns="0" bIns="0" anchor="t">
            <a:spAutoFit/>
          </a:bodyPr>
          <a:lstStyle/>
          <a:p>
            <a:pPr algn="l"/>
            <a:r>
              <a:rPr sz="1200" b="0" i="0">
                <a:solidFill>
                  <a:srgbClr val="5B6770"/>
                </a:solidFill>
                <a:latin typeface="Calibri"/>
              </a:rPr>
              <a:t>The fastest route is computed on live travel times, respecting one-way streets and turn rules. The driver's screen and the signals follow the same route.</a:t>
            </a:r>
          </a:p>
        </p:txBody>
      </p:sp>
      <p:sp>
        <p:nvSpPr>
          <p:cNvPr id="8" name="Oval 7"/>
          <p:cNvSpPr/>
          <p:nvPr/>
        </p:nvSpPr>
        <p:spPr>
          <a:xfrm>
            <a:off x="4343400" y="1828800"/>
            <a:ext cx="594360" cy="59436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828800"/>
            <a:ext cx="594360" cy="594360"/>
          </a:xfrm>
          <a:prstGeom prst="rect">
            <a:avLst/>
          </a:prstGeom>
          <a:noFill/>
        </p:spPr>
        <p:txBody>
          <a:bodyPr wrap="square" lIns="0" rIns="0" tIns="0" bIns="0" anchor="ctr">
            <a:spAutoFit/>
          </a:bodyPr>
          <a:lstStyle/>
          <a:p>
            <a:pPr algn="ctr"/>
            <a:r>
              <a:rPr sz="2200" b="1" i="0">
                <a:solidFill>
                  <a:srgbClr val="00A65A"/>
                </a:solidFill>
                <a:latin typeface="Calibri"/>
              </a:rPr>
              <a:t>2</a:t>
            </a:r>
          </a:p>
        </p:txBody>
      </p:sp>
      <p:sp>
        <p:nvSpPr>
          <p:cNvPr id="10" name="TextBox 9"/>
          <p:cNvSpPr txBox="1"/>
          <p:nvPr/>
        </p:nvSpPr>
        <p:spPr>
          <a:xfrm>
            <a:off x="5120640" y="1828800"/>
            <a:ext cx="2697480" cy="594360"/>
          </a:xfrm>
          <a:prstGeom prst="rect">
            <a:avLst/>
          </a:prstGeom>
          <a:noFill/>
        </p:spPr>
        <p:txBody>
          <a:bodyPr wrap="square" lIns="0" rIns="0" tIns="0" bIns="0" anchor="t">
            <a:spAutoFit/>
          </a:bodyPr>
          <a:lstStyle/>
          <a:p>
            <a:pPr algn="l"/>
            <a:r>
              <a:rPr sz="1500" b="1" i="0">
                <a:solidFill>
                  <a:srgbClr val="0F1F2E"/>
                </a:solidFill>
                <a:latin typeface="Calibri"/>
              </a:rPr>
              <a:t>Scene, then hospital</a:t>
            </a:r>
          </a:p>
        </p:txBody>
      </p:sp>
      <p:sp>
        <p:nvSpPr>
          <p:cNvPr id="11" name="TextBox 10"/>
          <p:cNvSpPr txBox="1"/>
          <p:nvPr/>
        </p:nvSpPr>
        <p:spPr>
          <a:xfrm>
            <a:off x="4343400" y="2606040"/>
            <a:ext cx="3429000" cy="1280160"/>
          </a:xfrm>
          <a:prstGeom prst="rect">
            <a:avLst/>
          </a:prstGeom>
          <a:noFill/>
        </p:spPr>
        <p:txBody>
          <a:bodyPr wrap="square" lIns="0" rIns="0" tIns="0" bIns="0" anchor="t">
            <a:spAutoFit/>
          </a:bodyPr>
          <a:lstStyle/>
          <a:p>
            <a:pPr algn="l"/>
            <a:r>
              <a:rPr sz="1200" b="0" i="0">
                <a:solidFill>
                  <a:srgbClr val="5B6770"/>
                </a:solidFill>
                <a:latin typeface="Calibri"/>
              </a:rPr>
              <a:t>On arrival the corridor pauses while the patient is loaded, then a new route opens automatically to the nearest hospital by travel time.</a:t>
            </a:r>
          </a:p>
        </p:txBody>
      </p:sp>
      <p:sp>
        <p:nvSpPr>
          <p:cNvPr id="12" name="Oval 11"/>
          <p:cNvSpPr/>
          <p:nvPr/>
        </p:nvSpPr>
        <p:spPr>
          <a:xfrm>
            <a:off x="8046719" y="1828800"/>
            <a:ext cx="594360" cy="59436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1828800"/>
            <a:ext cx="594360" cy="594360"/>
          </a:xfrm>
          <a:prstGeom prst="rect">
            <a:avLst/>
          </a:prstGeom>
          <a:noFill/>
        </p:spPr>
        <p:txBody>
          <a:bodyPr wrap="square" lIns="0" rIns="0" tIns="0" bIns="0" anchor="ctr">
            <a:spAutoFit/>
          </a:bodyPr>
          <a:lstStyle/>
          <a:p>
            <a:pPr algn="ctr"/>
            <a:r>
              <a:rPr sz="2200" b="1" i="0">
                <a:solidFill>
                  <a:srgbClr val="00A65A"/>
                </a:solidFill>
                <a:latin typeface="Calibri"/>
              </a:rPr>
              <a:t>3</a:t>
            </a:r>
          </a:p>
        </p:txBody>
      </p:sp>
      <p:sp>
        <p:nvSpPr>
          <p:cNvPr id="14" name="TextBox 13"/>
          <p:cNvSpPr txBox="1"/>
          <p:nvPr/>
        </p:nvSpPr>
        <p:spPr>
          <a:xfrm>
            <a:off x="8823959" y="1828800"/>
            <a:ext cx="2697480" cy="594360"/>
          </a:xfrm>
          <a:prstGeom prst="rect">
            <a:avLst/>
          </a:prstGeom>
          <a:noFill/>
        </p:spPr>
        <p:txBody>
          <a:bodyPr wrap="square" lIns="0" rIns="0" tIns="0" bIns="0" anchor="t">
            <a:spAutoFit/>
          </a:bodyPr>
          <a:lstStyle/>
          <a:p>
            <a:pPr algn="l"/>
            <a:r>
              <a:rPr sz="1500" b="1" i="0">
                <a:solidFill>
                  <a:srgbClr val="0F1F2E"/>
                </a:solidFill>
                <a:latin typeface="Calibri"/>
              </a:rPr>
              <a:t>Learns the traffic</a:t>
            </a:r>
          </a:p>
        </p:txBody>
      </p:sp>
      <p:sp>
        <p:nvSpPr>
          <p:cNvPr id="15" name="TextBox 14"/>
          <p:cNvSpPr txBox="1"/>
          <p:nvPr/>
        </p:nvSpPr>
        <p:spPr>
          <a:xfrm>
            <a:off x="8046719" y="2606040"/>
            <a:ext cx="3429000" cy="1280160"/>
          </a:xfrm>
          <a:prstGeom prst="rect">
            <a:avLst/>
          </a:prstGeom>
          <a:noFill/>
        </p:spPr>
        <p:txBody>
          <a:bodyPr wrap="square" lIns="0" rIns="0" tIns="0" bIns="0" anchor="t">
            <a:spAutoFit/>
          </a:bodyPr>
          <a:lstStyle/>
          <a:p>
            <a:pPr algn="l"/>
            <a:r>
              <a:rPr sz="1200" b="0" i="0">
                <a:solidFill>
                  <a:srgbClr val="5B6770"/>
                </a:solidFill>
                <a:latin typeface="Calibri"/>
              </a:rPr>
              <a:t>Every road is modelled as a small probability model that learns continuously which streets jam and when — and routes around the predicted jam.</a:t>
            </a:r>
          </a:p>
        </p:txBody>
      </p:sp>
      <p:sp>
        <p:nvSpPr>
          <p:cNvPr id="16" name="Oval 15"/>
          <p:cNvSpPr/>
          <p:nvPr/>
        </p:nvSpPr>
        <p:spPr>
          <a:xfrm>
            <a:off x="640080" y="4023360"/>
            <a:ext cx="594360" cy="59436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023360"/>
            <a:ext cx="594360" cy="594360"/>
          </a:xfrm>
          <a:prstGeom prst="rect">
            <a:avLst/>
          </a:prstGeom>
          <a:noFill/>
        </p:spPr>
        <p:txBody>
          <a:bodyPr wrap="square" lIns="0" rIns="0" tIns="0" bIns="0" anchor="ctr">
            <a:spAutoFit/>
          </a:bodyPr>
          <a:lstStyle/>
          <a:p>
            <a:pPr algn="ctr"/>
            <a:r>
              <a:rPr sz="2200" b="1" i="0">
                <a:solidFill>
                  <a:srgbClr val="00A65A"/>
                </a:solidFill>
                <a:latin typeface="Calibri"/>
              </a:rPr>
              <a:t>4</a:t>
            </a:r>
          </a:p>
        </p:txBody>
      </p:sp>
      <p:sp>
        <p:nvSpPr>
          <p:cNvPr id="18" name="TextBox 17"/>
          <p:cNvSpPr txBox="1"/>
          <p:nvPr/>
        </p:nvSpPr>
        <p:spPr>
          <a:xfrm>
            <a:off x="1417319" y="4023360"/>
            <a:ext cx="2697480" cy="594360"/>
          </a:xfrm>
          <a:prstGeom prst="rect">
            <a:avLst/>
          </a:prstGeom>
          <a:noFill/>
        </p:spPr>
        <p:txBody>
          <a:bodyPr wrap="square" lIns="0" rIns="0" tIns="0" bIns="0" anchor="t">
            <a:spAutoFit/>
          </a:bodyPr>
          <a:lstStyle/>
          <a:p>
            <a:pPr algn="l"/>
            <a:r>
              <a:rPr sz="1500" b="1" i="0">
                <a:solidFill>
                  <a:srgbClr val="0F1F2E"/>
                </a:solidFill>
                <a:latin typeface="Calibri"/>
              </a:rPr>
              <a:t>Two ambulances, one junction</a:t>
            </a:r>
          </a:p>
        </p:txBody>
      </p:sp>
      <p:sp>
        <p:nvSpPr>
          <p:cNvPr id="19" name="TextBox 18"/>
          <p:cNvSpPr txBox="1"/>
          <p:nvPr/>
        </p:nvSpPr>
        <p:spPr>
          <a:xfrm>
            <a:off x="640080" y="4800600"/>
            <a:ext cx="3429000" cy="1280160"/>
          </a:xfrm>
          <a:prstGeom prst="rect">
            <a:avLst/>
          </a:prstGeom>
          <a:noFill/>
        </p:spPr>
        <p:txBody>
          <a:bodyPr wrap="square" lIns="0" rIns="0" tIns="0" bIns="0" anchor="t">
            <a:spAutoFit/>
          </a:bodyPr>
          <a:lstStyle/>
          <a:p>
            <a:pPr algn="l"/>
            <a:r>
              <a:rPr sz="1200" b="0" i="0">
                <a:solidFill>
                  <a:srgbClr val="5B6770"/>
                </a:solidFill>
                <a:latin typeface="Calibri"/>
              </a:rPr>
              <a:t>A published decision matrix rules which ambulance goes first. Unclear cases are referred to a human supervisor with one-click buttons.</a:t>
            </a:r>
          </a:p>
        </p:txBody>
      </p:sp>
      <p:sp>
        <p:nvSpPr>
          <p:cNvPr id="20" name="Oval 19"/>
          <p:cNvSpPr/>
          <p:nvPr/>
        </p:nvSpPr>
        <p:spPr>
          <a:xfrm>
            <a:off x="4343400" y="4023360"/>
            <a:ext cx="594360" cy="59436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4023360"/>
            <a:ext cx="594360" cy="594360"/>
          </a:xfrm>
          <a:prstGeom prst="rect">
            <a:avLst/>
          </a:prstGeom>
          <a:noFill/>
        </p:spPr>
        <p:txBody>
          <a:bodyPr wrap="square" lIns="0" rIns="0" tIns="0" bIns="0" anchor="ctr">
            <a:spAutoFit/>
          </a:bodyPr>
          <a:lstStyle/>
          <a:p>
            <a:pPr algn="ctr"/>
            <a:r>
              <a:rPr sz="2200" b="1" i="0">
                <a:solidFill>
                  <a:srgbClr val="00A65A"/>
                </a:solidFill>
                <a:latin typeface="Calibri"/>
              </a:rPr>
              <a:t>5</a:t>
            </a:r>
          </a:p>
        </p:txBody>
      </p:sp>
      <p:sp>
        <p:nvSpPr>
          <p:cNvPr id="22" name="TextBox 21"/>
          <p:cNvSpPr txBox="1"/>
          <p:nvPr/>
        </p:nvSpPr>
        <p:spPr>
          <a:xfrm>
            <a:off x="5120640" y="4023360"/>
            <a:ext cx="2697480" cy="594360"/>
          </a:xfrm>
          <a:prstGeom prst="rect">
            <a:avLst/>
          </a:prstGeom>
          <a:noFill/>
        </p:spPr>
        <p:txBody>
          <a:bodyPr wrap="square" lIns="0" rIns="0" tIns="0" bIns="0" anchor="t">
            <a:spAutoFit/>
          </a:bodyPr>
          <a:lstStyle/>
          <a:p>
            <a:pPr algn="l"/>
            <a:r>
              <a:rPr sz="1500" b="1" i="0">
                <a:solidFill>
                  <a:srgbClr val="0F1F2E"/>
                </a:solidFill>
                <a:latin typeface="Calibri"/>
              </a:rPr>
              <a:t>Speed exemption, audited</a:t>
            </a:r>
          </a:p>
        </p:txBody>
      </p:sp>
      <p:sp>
        <p:nvSpPr>
          <p:cNvPr id="23" name="TextBox 22"/>
          <p:cNvSpPr txBox="1"/>
          <p:nvPr/>
        </p:nvSpPr>
        <p:spPr>
          <a:xfrm>
            <a:off x="4343400" y="4800600"/>
            <a:ext cx="3429000" cy="1280160"/>
          </a:xfrm>
          <a:prstGeom prst="rect">
            <a:avLst/>
          </a:prstGeom>
          <a:noFill/>
        </p:spPr>
        <p:txBody>
          <a:bodyPr wrap="square" lIns="0" rIns="0" tIns="0" bIns="0" anchor="t">
            <a:spAutoFit/>
          </a:bodyPr>
          <a:lstStyle/>
          <a:p>
            <a:pPr algn="l"/>
            <a:r>
              <a:rPr sz="1200" b="0" i="0">
                <a:solidFill>
                  <a:srgbClr val="5B6770"/>
                </a:solidFill>
                <a:latin typeface="Calibri"/>
              </a:rPr>
              <a:t>With lights on, the ambulance may exceed the limit; every speed camera logs the pass as 'NO CITATION' so nothing is left to dispute.</a:t>
            </a:r>
          </a:p>
        </p:txBody>
      </p:sp>
      <p:sp>
        <p:nvSpPr>
          <p:cNvPr id="24" name="Oval 23"/>
          <p:cNvSpPr/>
          <p:nvPr/>
        </p:nvSpPr>
        <p:spPr>
          <a:xfrm>
            <a:off x="8046719" y="4023360"/>
            <a:ext cx="594360" cy="594360"/>
          </a:xfrm>
          <a:prstGeom prst="ellipse">
            <a:avLst/>
          </a:prstGeom>
          <a:solidFill>
            <a:srgbClr val="E6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19" y="4023360"/>
            <a:ext cx="594360" cy="594360"/>
          </a:xfrm>
          <a:prstGeom prst="rect">
            <a:avLst/>
          </a:prstGeom>
          <a:noFill/>
        </p:spPr>
        <p:txBody>
          <a:bodyPr wrap="square" lIns="0" rIns="0" tIns="0" bIns="0" anchor="ctr">
            <a:spAutoFit/>
          </a:bodyPr>
          <a:lstStyle/>
          <a:p>
            <a:pPr algn="ctr"/>
            <a:r>
              <a:rPr sz="2200" b="1" i="0">
                <a:solidFill>
                  <a:srgbClr val="00A65A"/>
                </a:solidFill>
                <a:latin typeface="Calibri"/>
              </a:rPr>
              <a:t>6</a:t>
            </a:r>
          </a:p>
        </p:txBody>
      </p:sp>
      <p:sp>
        <p:nvSpPr>
          <p:cNvPr id="26" name="TextBox 25"/>
          <p:cNvSpPr txBox="1"/>
          <p:nvPr/>
        </p:nvSpPr>
        <p:spPr>
          <a:xfrm>
            <a:off x="8823959" y="4023360"/>
            <a:ext cx="2697480" cy="594360"/>
          </a:xfrm>
          <a:prstGeom prst="rect">
            <a:avLst/>
          </a:prstGeom>
          <a:noFill/>
        </p:spPr>
        <p:txBody>
          <a:bodyPr wrap="square" lIns="0" rIns="0" tIns="0" bIns="0" anchor="t">
            <a:spAutoFit/>
          </a:bodyPr>
          <a:lstStyle/>
          <a:p>
            <a:pPr algn="l"/>
            <a:r>
              <a:rPr sz="1500" b="1" i="0">
                <a:solidFill>
                  <a:srgbClr val="0F1F2E"/>
                </a:solidFill>
                <a:latin typeface="Calibri"/>
              </a:rPr>
              <a:t>Ask the record</a:t>
            </a:r>
          </a:p>
        </p:txBody>
      </p:sp>
      <p:sp>
        <p:nvSpPr>
          <p:cNvPr id="27" name="TextBox 26"/>
          <p:cNvSpPr txBox="1"/>
          <p:nvPr/>
        </p:nvSpPr>
        <p:spPr>
          <a:xfrm>
            <a:off x="8046719" y="4800600"/>
            <a:ext cx="3429000" cy="1280160"/>
          </a:xfrm>
          <a:prstGeom prst="rect">
            <a:avLst/>
          </a:prstGeom>
          <a:noFill/>
        </p:spPr>
        <p:txBody>
          <a:bodyPr wrap="square" lIns="0" rIns="0" tIns="0" bIns="0" anchor="t">
            <a:spAutoFit/>
          </a:bodyPr>
          <a:lstStyle/>
          <a:p>
            <a:pPr algn="l"/>
            <a:r>
              <a:rPr sz="1200" b="0" i="0">
                <a:solidFill>
                  <a:srgbClr val="5B6770"/>
                </a:solidFill>
                <a:latin typeface="Calibri"/>
              </a:rPr>
              <a:t>Supervisors ask questions in plain language — 'what happened on case A-012?' — and get an answer with citations from the operations log.</a:t>
            </a:r>
          </a:p>
        </p:txBody>
      </p:sp>
      <p:sp>
        <p:nvSpPr>
          <p:cNvPr id="28" name="TextBox 27"/>
          <p:cNvSpPr txBox="1"/>
          <p:nvPr/>
        </p:nvSpPr>
        <p:spPr>
          <a:xfrm>
            <a:off x="640080" y="6400800"/>
            <a:ext cx="10911535" cy="274320"/>
          </a:xfrm>
          <a:prstGeom prst="rect">
            <a:avLst/>
          </a:prstGeom>
          <a:noFill/>
        </p:spPr>
        <p:txBody>
          <a:bodyPr wrap="square" lIns="0" rIns="0" tIns="0" bIns="0" anchor="t">
            <a:spAutoFit/>
          </a:bodyPr>
          <a:lstStyle/>
          <a:p>
            <a:pPr algn="l"/>
            <a:r>
              <a:rPr sz="1000" b="0" i="0">
                <a:solidFill>
                  <a:srgbClr val="5B6770"/>
                </a:solidFill>
                <a:latin typeface="Calibri"/>
              </a:rPr>
              <a:t>Kuwait Ambulance Green Corridor  ·  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911535" cy="731520"/>
          </a:xfrm>
          <a:prstGeom prst="rect">
            <a:avLst/>
          </a:prstGeom>
          <a:noFill/>
        </p:spPr>
        <p:txBody>
          <a:bodyPr wrap="square" lIns="0" rIns="0" tIns="0" bIns="0" anchor="t">
            <a:spAutoFit/>
          </a:bodyPr>
          <a:lstStyle/>
          <a:p>
            <a:pPr algn="l"/>
            <a:r>
              <a:rPr sz="3400" b="1" i="0">
                <a:solidFill>
                  <a:srgbClr val="0F1F2E"/>
                </a:solidFill>
                <a:latin typeface="Calibri"/>
              </a:rPr>
              <a:t>What we measured</a:t>
            </a:r>
          </a:p>
        </p:txBody>
      </p:sp>
      <p:sp>
        <p:nvSpPr>
          <p:cNvPr id="3" name="TextBox 2"/>
          <p:cNvSpPr txBox="1"/>
          <p:nvPr/>
        </p:nvSpPr>
        <p:spPr>
          <a:xfrm>
            <a:off x="640080" y="1097280"/>
            <a:ext cx="10911535" cy="457200"/>
          </a:xfrm>
          <a:prstGeom prst="rect">
            <a:avLst/>
          </a:prstGeom>
          <a:noFill/>
        </p:spPr>
        <p:txBody>
          <a:bodyPr wrap="square" lIns="0" rIns="0" tIns="0" bIns="0" anchor="t">
            <a:spAutoFit/>
          </a:bodyPr>
          <a:lstStyle/>
          <a:p>
            <a:pPr algn="l"/>
            <a:r>
              <a:rPr sz="1600" b="0" i="0">
                <a:solidFill>
                  <a:srgbClr val="5B6770"/>
                </a:solidFill>
                <a:latin typeface="Calibri"/>
              </a:rPr>
              <a:t>Same streets, same traffic, same dispatches — with the green corridor and without it.</a:t>
            </a:r>
          </a:p>
        </p:txBody>
      </p:sp>
      <p:graphicFrame>
        <p:nvGraphicFramePr>
          <p:cNvPr id="4" name="Chart 3"/>
          <p:cNvGraphicFramePr>
            <a:graphicFrameLocks noGrp="1"/>
          </p:cNvGraphicFramePr>
          <p:nvPr/>
        </p:nvGraphicFramePr>
        <p:xfrm>
          <a:off x="640080" y="1828800"/>
          <a:ext cx="5852160" cy="3931920"/>
        </p:xfrm>
        <a:graphic>
          <a:graphicData uri="http://schemas.openxmlformats.org/drawingml/2006/chart">
            <c:chart xmlns:c="http://schemas.openxmlformats.org/drawingml/2006/chart" r:id="rId2"/>
          </a:graphicData>
        </a:graphic>
      </p:graphicFrame>
      <p:sp>
        <p:nvSpPr>
          <p:cNvPr id="5" name="Rounded Rectangle 4"/>
          <p:cNvSpPr/>
          <p:nvPr/>
        </p:nvSpPr>
        <p:spPr>
          <a:xfrm>
            <a:off x="6858000" y="1828800"/>
            <a:ext cx="4663440" cy="1188720"/>
          </a:xfrm>
          <a:prstGeom prst="roundRect">
            <a:avLst>
              <a:gd name="adj" fmla="val 923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86600" y="1965960"/>
            <a:ext cx="2011680" cy="548640"/>
          </a:xfrm>
          <a:prstGeom prst="rect">
            <a:avLst/>
          </a:prstGeom>
          <a:noFill/>
        </p:spPr>
        <p:txBody>
          <a:bodyPr wrap="square" lIns="0" rIns="0" tIns="0" bIns="0" anchor="t">
            <a:spAutoFit/>
          </a:bodyPr>
          <a:lstStyle/>
          <a:p>
            <a:pPr algn="l"/>
            <a:r>
              <a:rPr sz="2400" b="1" i="0">
                <a:solidFill>
                  <a:srgbClr val="00A65A"/>
                </a:solidFill>
                <a:latin typeface="Calibri"/>
              </a:rPr>
              <a:t>19% faster</a:t>
            </a:r>
          </a:p>
        </p:txBody>
      </p:sp>
      <p:sp>
        <p:nvSpPr>
          <p:cNvPr id="7" name="TextBox 6"/>
          <p:cNvSpPr txBox="1"/>
          <p:nvPr/>
        </p:nvSpPr>
        <p:spPr>
          <a:xfrm>
            <a:off x="7086600" y="2560320"/>
            <a:ext cx="2011680" cy="320040"/>
          </a:xfrm>
          <a:prstGeom prst="rect">
            <a:avLst/>
          </a:prstGeom>
          <a:noFill/>
        </p:spPr>
        <p:txBody>
          <a:bodyPr wrap="square" lIns="0" rIns="0" tIns="0" bIns="0" anchor="t">
            <a:spAutoFit/>
          </a:bodyPr>
          <a:lstStyle/>
          <a:p>
            <a:pPr algn="l"/>
            <a:r>
              <a:rPr sz="950" b="0" i="1">
                <a:solidFill>
                  <a:srgbClr val="5B6770"/>
                </a:solidFill>
                <a:latin typeface="Calibri"/>
              </a:rPr>
              <a:t>mission log, 33 runs</a:t>
            </a:r>
          </a:p>
        </p:txBody>
      </p:sp>
      <p:sp>
        <p:nvSpPr>
          <p:cNvPr id="8" name="TextBox 7"/>
          <p:cNvSpPr txBox="1"/>
          <p:nvPr/>
        </p:nvSpPr>
        <p:spPr>
          <a:xfrm>
            <a:off x="9098280" y="1965960"/>
            <a:ext cx="2286000" cy="960120"/>
          </a:xfrm>
          <a:prstGeom prst="rect">
            <a:avLst/>
          </a:prstGeom>
          <a:noFill/>
        </p:spPr>
        <p:txBody>
          <a:bodyPr wrap="square" lIns="0" rIns="0" tIns="0" bIns="0" anchor="t">
            <a:spAutoFit/>
          </a:bodyPr>
          <a:lstStyle/>
          <a:p>
            <a:pPr algn="l"/>
            <a:r>
              <a:rPr sz="1150" b="0" i="0">
                <a:solidFill>
                  <a:srgbClr val="0F1F2E"/>
                </a:solidFill>
                <a:latin typeface="Calibri"/>
              </a:rPr>
              <a:t>About 80 seconds saved on an average run; the ambulance never stops at a signal.</a:t>
            </a:r>
          </a:p>
        </p:txBody>
      </p:sp>
      <p:sp>
        <p:nvSpPr>
          <p:cNvPr id="9" name="Rounded Rectangle 8"/>
          <p:cNvSpPr/>
          <p:nvPr/>
        </p:nvSpPr>
        <p:spPr>
          <a:xfrm>
            <a:off x="6858000" y="3154680"/>
            <a:ext cx="4663440" cy="1188720"/>
          </a:xfrm>
          <a:prstGeom prst="roundRect">
            <a:avLst>
              <a:gd name="adj" fmla="val 923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3291840"/>
            <a:ext cx="2011680" cy="548640"/>
          </a:xfrm>
          <a:prstGeom prst="rect">
            <a:avLst/>
          </a:prstGeom>
          <a:noFill/>
        </p:spPr>
        <p:txBody>
          <a:bodyPr wrap="square" lIns="0" rIns="0" tIns="0" bIns="0" anchor="t">
            <a:spAutoFit/>
          </a:bodyPr>
          <a:lstStyle/>
          <a:p>
            <a:pPr algn="l"/>
            <a:r>
              <a:rPr sz="2400" b="1" i="0">
                <a:solidFill>
                  <a:srgbClr val="00A65A"/>
                </a:solidFill>
                <a:latin typeface="Calibri"/>
              </a:rPr>
              <a:t>+9.1% speed</a:t>
            </a:r>
          </a:p>
        </p:txBody>
      </p:sp>
      <p:sp>
        <p:nvSpPr>
          <p:cNvPr id="11" name="TextBox 10"/>
          <p:cNvSpPr txBox="1"/>
          <p:nvPr/>
        </p:nvSpPr>
        <p:spPr>
          <a:xfrm>
            <a:off x="7086600" y="3886200"/>
            <a:ext cx="2011680" cy="320040"/>
          </a:xfrm>
          <a:prstGeom prst="rect">
            <a:avLst/>
          </a:prstGeom>
          <a:noFill/>
        </p:spPr>
        <p:txBody>
          <a:bodyPr wrap="square" lIns="0" rIns="0" tIns="0" bIns="0" anchor="t">
            <a:spAutoFit/>
          </a:bodyPr>
          <a:lstStyle/>
          <a:p>
            <a:pPr algn="l"/>
            <a:r>
              <a:rPr sz="950" b="0" i="1">
                <a:solidFill>
                  <a:srgbClr val="5B6770"/>
                </a:solidFill>
                <a:latin typeface="Calibri"/>
              </a:rPr>
              <a:t>measured at peak demand</a:t>
            </a:r>
          </a:p>
        </p:txBody>
      </p:sp>
      <p:sp>
        <p:nvSpPr>
          <p:cNvPr id="12" name="TextBox 11"/>
          <p:cNvSpPr txBox="1"/>
          <p:nvPr/>
        </p:nvSpPr>
        <p:spPr>
          <a:xfrm>
            <a:off x="9098280" y="3291840"/>
            <a:ext cx="2286000" cy="960120"/>
          </a:xfrm>
          <a:prstGeom prst="rect">
            <a:avLst/>
          </a:prstGeom>
          <a:noFill/>
        </p:spPr>
        <p:txBody>
          <a:bodyPr wrap="square" lIns="0" rIns="0" tIns="0" bIns="0" anchor="t">
            <a:spAutoFit/>
          </a:bodyPr>
          <a:lstStyle/>
          <a:p>
            <a:pPr algn="l"/>
            <a:r>
              <a:rPr sz="1150" b="0" i="0">
                <a:solidFill>
                  <a:srgbClr val="0F1F2E"/>
                </a:solidFill>
                <a:latin typeface="Calibri"/>
              </a:rPr>
              <a:t>Mean speed of all traffic rose when junctions also give early green to a lone waiting approach.</a:t>
            </a:r>
          </a:p>
        </p:txBody>
      </p:sp>
      <p:sp>
        <p:nvSpPr>
          <p:cNvPr id="13" name="Rounded Rectangle 12"/>
          <p:cNvSpPr/>
          <p:nvPr/>
        </p:nvSpPr>
        <p:spPr>
          <a:xfrm>
            <a:off x="6858000" y="4480560"/>
            <a:ext cx="4663440" cy="1188720"/>
          </a:xfrm>
          <a:prstGeom prst="roundRect">
            <a:avLst>
              <a:gd name="adj" fmla="val 923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4617720"/>
            <a:ext cx="2011680" cy="548640"/>
          </a:xfrm>
          <a:prstGeom prst="rect">
            <a:avLst/>
          </a:prstGeom>
          <a:noFill/>
        </p:spPr>
        <p:txBody>
          <a:bodyPr wrap="square" lIns="0" rIns="0" tIns="0" bIns="0" anchor="t">
            <a:spAutoFit/>
          </a:bodyPr>
          <a:lstStyle/>
          <a:p>
            <a:pPr algn="l"/>
            <a:r>
              <a:rPr sz="2400" b="1" i="0">
                <a:solidFill>
                  <a:srgbClr val="00A65A"/>
                </a:solidFill>
                <a:latin typeface="Calibri"/>
              </a:rPr>
              <a:t>−42.5% halted</a:t>
            </a:r>
          </a:p>
        </p:txBody>
      </p:sp>
      <p:sp>
        <p:nvSpPr>
          <p:cNvPr id="15" name="TextBox 14"/>
          <p:cNvSpPr txBox="1"/>
          <p:nvPr/>
        </p:nvSpPr>
        <p:spPr>
          <a:xfrm>
            <a:off x="7086600" y="5212080"/>
            <a:ext cx="2011680" cy="320040"/>
          </a:xfrm>
          <a:prstGeom prst="rect">
            <a:avLst/>
          </a:prstGeom>
          <a:noFill/>
        </p:spPr>
        <p:txBody>
          <a:bodyPr wrap="square" lIns="0" rIns="0" tIns="0" bIns="0" anchor="t">
            <a:spAutoFit/>
          </a:bodyPr>
          <a:lstStyle/>
          <a:p>
            <a:pPr algn="l"/>
            <a:r>
              <a:rPr sz="950" b="0" i="1">
                <a:solidFill>
                  <a:srgbClr val="5B6770"/>
                </a:solidFill>
                <a:latin typeface="Calibri"/>
              </a:rPr>
              <a:t>measured at peak demand</a:t>
            </a:r>
          </a:p>
        </p:txBody>
      </p:sp>
      <p:sp>
        <p:nvSpPr>
          <p:cNvPr id="16" name="TextBox 15"/>
          <p:cNvSpPr txBox="1"/>
          <p:nvPr/>
        </p:nvSpPr>
        <p:spPr>
          <a:xfrm>
            <a:off x="9098280" y="4617720"/>
            <a:ext cx="2286000" cy="960120"/>
          </a:xfrm>
          <a:prstGeom prst="rect">
            <a:avLst/>
          </a:prstGeom>
          <a:noFill/>
        </p:spPr>
        <p:txBody>
          <a:bodyPr wrap="square" lIns="0" rIns="0" tIns="0" bIns="0" anchor="t">
            <a:spAutoFit/>
          </a:bodyPr>
          <a:lstStyle/>
          <a:p>
            <a:pPr algn="l"/>
            <a:r>
              <a:rPr sz="1150" b="0" i="0">
                <a:solidFill>
                  <a:srgbClr val="0F1F2E"/>
                </a:solidFill>
                <a:latin typeface="Calibri"/>
              </a:rPr>
              <a:t>Fewer vehicles stopped network-wide — other road users gain too, not only the ambulance.</a:t>
            </a:r>
          </a:p>
        </p:txBody>
      </p:sp>
      <p:sp>
        <p:nvSpPr>
          <p:cNvPr id="17" name="TextBox 16"/>
          <p:cNvSpPr txBox="1"/>
          <p:nvPr/>
        </p:nvSpPr>
        <p:spPr>
          <a:xfrm>
            <a:off x="640080" y="5897880"/>
            <a:ext cx="10911535" cy="320040"/>
          </a:xfrm>
          <a:prstGeom prst="rect">
            <a:avLst/>
          </a:prstGeom>
          <a:noFill/>
        </p:spPr>
        <p:txBody>
          <a:bodyPr wrap="square" lIns="0" rIns="0" tIns="0" bIns="0" anchor="t">
            <a:spAutoFit/>
          </a:bodyPr>
          <a:lstStyle/>
          <a:p>
            <a:pPr algn="l"/>
            <a:r>
              <a:rPr sz="1050" b="0" i="1">
                <a:solidFill>
                  <a:srgbClr val="5B6770"/>
                </a:solidFill>
                <a:latin typeface="Calibri"/>
              </a:rPr>
              <a:t>'Without' times are the system's own per-junction estimate of the signal waits the corridor removed, in the same traffic.</a:t>
            </a:r>
          </a:p>
        </p:txBody>
      </p:sp>
      <p:sp>
        <p:nvSpPr>
          <p:cNvPr id="18" name="TextBox 17"/>
          <p:cNvSpPr txBox="1"/>
          <p:nvPr/>
        </p:nvSpPr>
        <p:spPr>
          <a:xfrm>
            <a:off x="640080" y="6400800"/>
            <a:ext cx="10911535" cy="274320"/>
          </a:xfrm>
          <a:prstGeom prst="rect">
            <a:avLst/>
          </a:prstGeom>
          <a:noFill/>
        </p:spPr>
        <p:txBody>
          <a:bodyPr wrap="square" lIns="0" rIns="0" tIns="0" bIns="0" anchor="t">
            <a:spAutoFit/>
          </a:bodyPr>
          <a:lstStyle/>
          <a:p>
            <a:pPr algn="l"/>
            <a:r>
              <a:rPr sz="1000" b="0" i="0">
                <a:solidFill>
                  <a:srgbClr val="5B6770"/>
                </a:solidFill>
                <a:latin typeface="Calibri"/>
              </a:rPr>
              <a:t>Kuwait Ambulance Green Corridor  ·  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F2E"/>
        </a:solidFill>
        <a:effectLst/>
      </p:bgPr>
    </p:bg>
    <p:spTree>
      <p:nvGrpSpPr>
        <p:cNvPr id="1" name=""/>
        <p:cNvGrpSpPr/>
        <p:nvPr/>
      </p:nvGrpSpPr>
      <p:grpSpPr/>
      <p:sp>
        <p:nvSpPr>
          <p:cNvPr id="2" name="TextBox 1"/>
          <p:cNvSpPr txBox="1"/>
          <p:nvPr/>
        </p:nvSpPr>
        <p:spPr>
          <a:xfrm>
            <a:off x="640080" y="457200"/>
            <a:ext cx="10911535" cy="731520"/>
          </a:xfrm>
          <a:prstGeom prst="rect">
            <a:avLst/>
          </a:prstGeom>
          <a:noFill/>
        </p:spPr>
        <p:txBody>
          <a:bodyPr wrap="square" lIns="0" rIns="0" tIns="0" bIns="0" anchor="t">
            <a:spAutoFit/>
          </a:bodyPr>
          <a:lstStyle/>
          <a:p>
            <a:pPr algn="l"/>
            <a:r>
              <a:rPr sz="3400" b="1" i="0">
                <a:solidFill>
                  <a:srgbClr val="FFFFFF"/>
                </a:solidFill>
                <a:latin typeface="Calibri"/>
              </a:rPr>
              <a:t>Where we go from here</a:t>
            </a:r>
          </a:p>
        </p:txBody>
      </p:sp>
      <p:sp>
        <p:nvSpPr>
          <p:cNvPr id="3" name="TextBox 2"/>
          <p:cNvSpPr txBox="1"/>
          <p:nvPr/>
        </p:nvSpPr>
        <p:spPr>
          <a:xfrm>
            <a:off x="640080" y="1143000"/>
            <a:ext cx="10911535" cy="457200"/>
          </a:xfrm>
          <a:prstGeom prst="rect">
            <a:avLst/>
          </a:prstGeom>
          <a:noFill/>
        </p:spPr>
        <p:txBody>
          <a:bodyPr wrap="square" lIns="0" rIns="0" tIns="0" bIns="0" anchor="t">
            <a:spAutoFit/>
          </a:bodyPr>
          <a:lstStyle/>
          <a:p>
            <a:pPr algn="l"/>
            <a:r>
              <a:rPr sz="1600" b="0" i="0">
                <a:solidFill>
                  <a:srgbClr val="CFD8DF"/>
                </a:solidFill>
                <a:latin typeface="Calibri"/>
              </a:rPr>
              <a:t>The model is ready. Three things from the Ministry would turn it into a pilot.</a:t>
            </a:r>
          </a:p>
        </p:txBody>
      </p:sp>
      <p:sp>
        <p:nvSpPr>
          <p:cNvPr id="4" name="Rounded Rectangle 3"/>
          <p:cNvSpPr/>
          <p:nvPr/>
        </p:nvSpPr>
        <p:spPr>
          <a:xfrm>
            <a:off x="640080" y="1920240"/>
            <a:ext cx="3429000" cy="3200400"/>
          </a:xfrm>
          <a:prstGeom prst="roundRect">
            <a:avLst>
              <a:gd name="adj" fmla="val 3428"/>
            </a:avLst>
          </a:prstGeom>
          <a:solidFill>
            <a:srgbClr val="1B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19" y="2240280"/>
            <a:ext cx="685800" cy="685800"/>
          </a:xfrm>
          <a:prstGeom prst="ellipse">
            <a:avLst/>
          </a:prstGeom>
          <a:solidFill>
            <a:srgbClr val="00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2240280"/>
            <a:ext cx="685800" cy="685800"/>
          </a:xfrm>
          <a:prstGeom prst="rect">
            <a:avLst/>
          </a:prstGeom>
          <a:noFill/>
        </p:spPr>
        <p:txBody>
          <a:bodyPr wrap="square" lIns="0" rIns="0" tIns="0" bIns="0" anchor="ctr">
            <a:spAutoFit/>
          </a:bodyPr>
          <a:lstStyle/>
          <a:p>
            <a:pPr algn="ctr"/>
            <a:r>
              <a:rPr sz="2500" b="1" i="0">
                <a:solidFill>
                  <a:srgbClr val="FFFFFF"/>
                </a:solidFill>
                <a:latin typeface="Calibri"/>
              </a:rPr>
              <a:t>1</a:t>
            </a:r>
          </a:p>
        </p:txBody>
      </p:sp>
      <p:sp>
        <p:nvSpPr>
          <p:cNvPr id="7" name="TextBox 6"/>
          <p:cNvSpPr txBox="1"/>
          <p:nvPr/>
        </p:nvSpPr>
        <p:spPr>
          <a:xfrm>
            <a:off x="960119" y="3154680"/>
            <a:ext cx="2834640" cy="457200"/>
          </a:xfrm>
          <a:prstGeom prst="rect">
            <a:avLst/>
          </a:prstGeom>
          <a:noFill/>
        </p:spPr>
        <p:txBody>
          <a:bodyPr wrap="square" lIns="0" rIns="0" tIns="0" bIns="0" anchor="t">
            <a:spAutoFit/>
          </a:bodyPr>
          <a:lstStyle/>
          <a:p>
            <a:pPr algn="l"/>
            <a:r>
              <a:rPr sz="1900" b="1" i="0">
                <a:solidFill>
                  <a:srgbClr val="FFFFFF"/>
                </a:solidFill>
                <a:latin typeface="Calibri"/>
              </a:rPr>
              <a:t>Real signal timings</a:t>
            </a:r>
          </a:p>
        </p:txBody>
      </p:sp>
      <p:sp>
        <p:nvSpPr>
          <p:cNvPr id="8" name="TextBox 7"/>
          <p:cNvSpPr txBox="1"/>
          <p:nvPr/>
        </p:nvSpPr>
        <p:spPr>
          <a:xfrm>
            <a:off x="960119" y="3703320"/>
            <a:ext cx="2834640" cy="1280160"/>
          </a:xfrm>
          <a:prstGeom prst="rect">
            <a:avLst/>
          </a:prstGeom>
          <a:noFill/>
        </p:spPr>
        <p:txBody>
          <a:bodyPr wrap="square" lIns="0" rIns="0" tIns="0" bIns="0" anchor="t">
            <a:spAutoFit/>
          </a:bodyPr>
          <a:lstStyle/>
          <a:p>
            <a:pPr algn="l"/>
            <a:r>
              <a:rPr sz="1300" b="0" i="0">
                <a:solidFill>
                  <a:srgbClr val="CFD8DF"/>
                </a:solidFill>
                <a:latin typeface="Calibri"/>
              </a:rPr>
              <a:t>The road layout is real; the signal plans are still synthetic. With the actual timing plans, results become a forecast for specific junctions.</a:t>
            </a:r>
          </a:p>
        </p:txBody>
      </p:sp>
      <p:sp>
        <p:nvSpPr>
          <p:cNvPr id="9" name="Rounded Rectangle 8"/>
          <p:cNvSpPr/>
          <p:nvPr/>
        </p:nvSpPr>
        <p:spPr>
          <a:xfrm>
            <a:off x="4343400" y="1920240"/>
            <a:ext cx="3429000" cy="3200400"/>
          </a:xfrm>
          <a:prstGeom prst="roundRect">
            <a:avLst>
              <a:gd name="adj" fmla="val 3428"/>
            </a:avLst>
          </a:prstGeom>
          <a:solidFill>
            <a:srgbClr val="1B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63440" y="2240280"/>
            <a:ext cx="685800" cy="685800"/>
          </a:xfrm>
          <a:prstGeom prst="ellipse">
            <a:avLst/>
          </a:prstGeom>
          <a:solidFill>
            <a:srgbClr val="00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240280"/>
            <a:ext cx="685800" cy="685800"/>
          </a:xfrm>
          <a:prstGeom prst="rect">
            <a:avLst/>
          </a:prstGeom>
          <a:noFill/>
        </p:spPr>
        <p:txBody>
          <a:bodyPr wrap="square" lIns="0" rIns="0" tIns="0" bIns="0" anchor="ctr">
            <a:spAutoFit/>
          </a:bodyPr>
          <a:lstStyle/>
          <a:p>
            <a:pPr algn="ctr"/>
            <a:r>
              <a:rPr sz="2500" b="1" i="0">
                <a:solidFill>
                  <a:srgbClr val="FFFFFF"/>
                </a:solidFill>
                <a:latin typeface="Calibri"/>
              </a:rPr>
              <a:t>2</a:t>
            </a:r>
          </a:p>
        </p:txBody>
      </p:sp>
      <p:sp>
        <p:nvSpPr>
          <p:cNvPr id="12" name="TextBox 11"/>
          <p:cNvSpPr txBox="1"/>
          <p:nvPr/>
        </p:nvSpPr>
        <p:spPr>
          <a:xfrm>
            <a:off x="4663440" y="3154680"/>
            <a:ext cx="2834640" cy="457200"/>
          </a:xfrm>
          <a:prstGeom prst="rect">
            <a:avLst/>
          </a:prstGeom>
          <a:noFill/>
        </p:spPr>
        <p:txBody>
          <a:bodyPr wrap="square" lIns="0" rIns="0" tIns="0" bIns="0" anchor="t">
            <a:spAutoFit/>
          </a:bodyPr>
          <a:lstStyle/>
          <a:p>
            <a:pPr algn="l"/>
            <a:r>
              <a:rPr sz="1900" b="1" i="0">
                <a:solidFill>
                  <a:srgbClr val="FFFFFF"/>
                </a:solidFill>
                <a:latin typeface="Calibri"/>
              </a:rPr>
              <a:t>Real traffic counts</a:t>
            </a:r>
          </a:p>
        </p:txBody>
      </p:sp>
      <p:sp>
        <p:nvSpPr>
          <p:cNvPr id="13" name="TextBox 12"/>
          <p:cNvSpPr txBox="1"/>
          <p:nvPr/>
        </p:nvSpPr>
        <p:spPr>
          <a:xfrm>
            <a:off x="4663440" y="3703320"/>
            <a:ext cx="2834640" cy="1280160"/>
          </a:xfrm>
          <a:prstGeom prst="rect">
            <a:avLst/>
          </a:prstGeom>
          <a:noFill/>
        </p:spPr>
        <p:txBody>
          <a:bodyPr wrap="square" lIns="0" rIns="0" tIns="0" bIns="0" anchor="t">
            <a:spAutoFit/>
          </a:bodyPr>
          <a:lstStyle/>
          <a:p>
            <a:pPr algn="l"/>
            <a:r>
              <a:rPr sz="1300" b="0" i="0">
                <a:solidFill>
                  <a:srgbClr val="CFD8DF"/>
                </a:solidFill>
                <a:latin typeface="Calibri"/>
              </a:rPr>
              <a:t>A small file of hourly counts (hour, multiplier) plugs straight into the model and replaces the calibrated profile.</a:t>
            </a:r>
          </a:p>
        </p:txBody>
      </p:sp>
      <p:sp>
        <p:nvSpPr>
          <p:cNvPr id="14" name="Rounded Rectangle 13"/>
          <p:cNvSpPr/>
          <p:nvPr/>
        </p:nvSpPr>
        <p:spPr>
          <a:xfrm>
            <a:off x="8046719" y="1920240"/>
            <a:ext cx="3429000" cy="3200400"/>
          </a:xfrm>
          <a:prstGeom prst="roundRect">
            <a:avLst>
              <a:gd name="adj" fmla="val 3428"/>
            </a:avLst>
          </a:prstGeom>
          <a:solidFill>
            <a:srgbClr val="1B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66759" y="2240280"/>
            <a:ext cx="685800" cy="685800"/>
          </a:xfrm>
          <a:prstGeom prst="ellipse">
            <a:avLst/>
          </a:prstGeom>
          <a:solidFill>
            <a:srgbClr val="00A6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59" y="2240280"/>
            <a:ext cx="685800" cy="685800"/>
          </a:xfrm>
          <a:prstGeom prst="rect">
            <a:avLst/>
          </a:prstGeom>
          <a:noFill/>
        </p:spPr>
        <p:txBody>
          <a:bodyPr wrap="square" lIns="0" rIns="0" tIns="0" bIns="0" anchor="ctr">
            <a:spAutoFit/>
          </a:bodyPr>
          <a:lstStyle/>
          <a:p>
            <a:pPr algn="ctr"/>
            <a:r>
              <a:rPr sz="2500" b="1" i="0">
                <a:solidFill>
                  <a:srgbClr val="FFFFFF"/>
                </a:solidFill>
                <a:latin typeface="Calibri"/>
              </a:rPr>
              <a:t>3</a:t>
            </a:r>
          </a:p>
        </p:txBody>
      </p:sp>
      <p:sp>
        <p:nvSpPr>
          <p:cNvPr id="17" name="TextBox 16"/>
          <p:cNvSpPr txBox="1"/>
          <p:nvPr/>
        </p:nvSpPr>
        <p:spPr>
          <a:xfrm>
            <a:off x="8366759" y="3154680"/>
            <a:ext cx="2834640" cy="457200"/>
          </a:xfrm>
          <a:prstGeom prst="rect">
            <a:avLst/>
          </a:prstGeom>
          <a:noFill/>
        </p:spPr>
        <p:txBody>
          <a:bodyPr wrap="square" lIns="0" rIns="0" tIns="0" bIns="0" anchor="t">
            <a:spAutoFit/>
          </a:bodyPr>
          <a:lstStyle/>
          <a:p>
            <a:pPr algn="l"/>
            <a:r>
              <a:rPr sz="1900" b="1" i="0">
                <a:solidFill>
                  <a:srgbClr val="FFFFFF"/>
                </a:solidFill>
                <a:latin typeface="Calibri"/>
              </a:rPr>
              <a:t>One pilot corridor</a:t>
            </a:r>
          </a:p>
        </p:txBody>
      </p:sp>
      <p:sp>
        <p:nvSpPr>
          <p:cNvPr id="18" name="TextBox 17"/>
          <p:cNvSpPr txBox="1"/>
          <p:nvPr/>
        </p:nvSpPr>
        <p:spPr>
          <a:xfrm>
            <a:off x="8366759" y="3703320"/>
            <a:ext cx="2834640" cy="1280160"/>
          </a:xfrm>
          <a:prstGeom prst="rect">
            <a:avLst/>
          </a:prstGeom>
          <a:noFill/>
        </p:spPr>
        <p:txBody>
          <a:bodyPr wrap="square" lIns="0" rIns="0" tIns="0" bIns="0" anchor="t">
            <a:spAutoFit/>
          </a:bodyPr>
          <a:lstStyle/>
          <a:p>
            <a:pPr algn="l"/>
            <a:r>
              <a:rPr sz="1300" b="0" i="0">
                <a:solidFill>
                  <a:srgbClr val="CFD8DF"/>
                </a:solidFill>
                <a:latin typeface="Calibri"/>
              </a:rPr>
              <a:t>Pick a single hospital-to-area corridor. We simulate it first, then it can be tried on the street with the existing camera and controller infrastructure.</a:t>
            </a:r>
          </a:p>
        </p:txBody>
      </p:sp>
      <p:sp>
        <p:nvSpPr>
          <p:cNvPr id="19" name="TextBox 18"/>
          <p:cNvSpPr txBox="1"/>
          <p:nvPr/>
        </p:nvSpPr>
        <p:spPr>
          <a:xfrm>
            <a:off x="640080" y="5486400"/>
            <a:ext cx="10911535" cy="457200"/>
          </a:xfrm>
          <a:prstGeom prst="rect">
            <a:avLst/>
          </a:prstGeom>
          <a:noFill/>
        </p:spPr>
        <p:txBody>
          <a:bodyPr wrap="square" lIns="0" rIns="0" tIns="0" bIns="0" anchor="t">
            <a:spAutoFit/>
          </a:bodyPr>
          <a:lstStyle/>
          <a:p>
            <a:pPr algn="l"/>
            <a:r>
              <a:rPr sz="1400" b="1" i="0">
                <a:solidFill>
                  <a:srgbClr val="00A65A"/>
                </a:solidFill>
                <a:latin typeface="Calibri"/>
              </a:rPr>
              <a:t>Everything shown today runs on an ordinary computer, with no internet connection, and logs every decision for after-action review.</a:t>
            </a:r>
          </a:p>
        </p:txBody>
      </p:sp>
      <p:sp>
        <p:nvSpPr>
          <p:cNvPr id="20" name="TextBox 19"/>
          <p:cNvSpPr txBox="1"/>
          <p:nvPr/>
        </p:nvSpPr>
        <p:spPr>
          <a:xfrm>
            <a:off x="640080" y="6035040"/>
            <a:ext cx="10911535" cy="365760"/>
          </a:xfrm>
          <a:prstGeom prst="rect">
            <a:avLst/>
          </a:prstGeom>
          <a:noFill/>
        </p:spPr>
        <p:txBody>
          <a:bodyPr wrap="square" lIns="0" rIns="0" tIns="0" bIns="0" anchor="t">
            <a:spAutoFit/>
          </a:bodyPr>
          <a:lstStyle/>
          <a:p>
            <a:pPr algn="l"/>
            <a:r>
              <a:rPr sz="1400" b="0" i="0">
                <a:solidFill>
                  <a:srgbClr val="8FA3B3"/>
                </a:solidFill>
                <a:latin typeface="Calibri"/>
              </a:rPr>
              <a:t>Thank you.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